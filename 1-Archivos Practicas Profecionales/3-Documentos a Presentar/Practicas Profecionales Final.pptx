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82" r:id="rId1"/>
  </p:sldMasterIdLst>
  <p:notesMasterIdLst>
    <p:notesMasterId r:id="rId36"/>
  </p:notesMasterIdLst>
  <p:sldIdLst>
    <p:sldId id="257" r:id="rId2"/>
    <p:sldId id="258" r:id="rId3"/>
    <p:sldId id="269" r:id="rId4"/>
    <p:sldId id="259" r:id="rId5"/>
    <p:sldId id="260" r:id="rId6"/>
    <p:sldId id="261" r:id="rId7"/>
    <p:sldId id="262" r:id="rId8"/>
    <p:sldId id="263" r:id="rId9"/>
    <p:sldId id="264" r:id="rId10"/>
    <p:sldId id="265" r:id="rId11"/>
    <p:sldId id="266" r:id="rId12"/>
    <p:sldId id="273" r:id="rId13"/>
    <p:sldId id="267" r:id="rId14"/>
    <p:sldId id="268" r:id="rId15"/>
    <p:sldId id="270" r:id="rId16"/>
    <p:sldId id="271" r:id="rId17"/>
    <p:sldId id="272" r:id="rId18"/>
    <p:sldId id="274" r:id="rId19"/>
    <p:sldId id="275" r:id="rId20"/>
    <p:sldId id="276" r:id="rId21"/>
    <p:sldId id="282" r:id="rId22"/>
    <p:sldId id="277" r:id="rId23"/>
    <p:sldId id="278" r:id="rId24"/>
    <p:sldId id="279" r:id="rId25"/>
    <p:sldId id="288" r:id="rId26"/>
    <p:sldId id="281" r:id="rId27"/>
    <p:sldId id="280" r:id="rId28"/>
    <p:sldId id="283" r:id="rId29"/>
    <p:sldId id="284" r:id="rId30"/>
    <p:sldId id="285" r:id="rId31"/>
    <p:sldId id="286" r:id="rId32"/>
    <p:sldId id="287" r:id="rId33"/>
    <p:sldId id="289" r:id="rId34"/>
    <p:sldId id="290"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8" d="100"/>
          <a:sy n="108" d="100"/>
        </p:scale>
        <p:origin x="168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3192C5-C71A-4534-9E44-F0734F019E71}" type="datetimeFigureOut">
              <a:rPr lang="es-AR" smtClean="0"/>
              <a:t>4/11/2025</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7E10D1-138C-4AEC-AD39-71B97B2E9120}" type="slidenum">
              <a:rPr lang="es-AR" smtClean="0"/>
              <a:t>‹Nº›</a:t>
            </a:fld>
            <a:endParaRPr lang="es-AR"/>
          </a:p>
        </p:txBody>
      </p:sp>
    </p:spTree>
    <p:extLst>
      <p:ext uri="{BB962C8B-B14F-4D97-AF65-F5344CB8AC3E}">
        <p14:creationId xmlns:p14="http://schemas.microsoft.com/office/powerpoint/2010/main" val="4142458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A7E10D1-138C-4AEC-AD39-71B97B2E9120}" type="slidenum">
              <a:rPr lang="es-AR" smtClean="0"/>
              <a:t>11</a:t>
            </a:fld>
            <a:endParaRPr lang="es-AR"/>
          </a:p>
        </p:txBody>
      </p:sp>
    </p:spTree>
    <p:extLst>
      <p:ext uri="{BB962C8B-B14F-4D97-AF65-F5344CB8AC3E}">
        <p14:creationId xmlns:p14="http://schemas.microsoft.com/office/powerpoint/2010/main" val="1263901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DF6D3-4BCB-4819-C962-11CDC0F5A5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55B7DE-B241-CCAA-6CC3-B0CAC26D58A2}"/>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E291C6C0-4147-FBCC-BFDF-F6CD60D924D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E70E357-F29A-3438-FDA1-AA5A61097A5C}"/>
              </a:ext>
            </a:extLst>
          </p:cNvPr>
          <p:cNvSpPr>
            <a:spLocks noGrp="1"/>
          </p:cNvSpPr>
          <p:nvPr>
            <p:ph type="sldNum" sz="quarter" idx="5"/>
          </p:nvPr>
        </p:nvSpPr>
        <p:spPr/>
        <p:txBody>
          <a:bodyPr/>
          <a:lstStyle/>
          <a:p>
            <a:fld id="{DA7E10D1-138C-4AEC-AD39-71B97B2E9120}" type="slidenum">
              <a:rPr lang="es-AR" smtClean="0"/>
              <a:t>12</a:t>
            </a:fld>
            <a:endParaRPr lang="es-AR"/>
          </a:p>
        </p:txBody>
      </p:sp>
    </p:spTree>
    <p:extLst>
      <p:ext uri="{BB962C8B-B14F-4D97-AF65-F5344CB8AC3E}">
        <p14:creationId xmlns:p14="http://schemas.microsoft.com/office/powerpoint/2010/main" val="3878443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DA7E10D1-138C-4AEC-AD39-71B97B2E9120}" type="slidenum">
              <a:rPr lang="es-AR" smtClean="0"/>
              <a:t>33</a:t>
            </a:fld>
            <a:endParaRPr lang="es-AR"/>
          </a:p>
        </p:txBody>
      </p:sp>
    </p:spTree>
    <p:extLst>
      <p:ext uri="{BB962C8B-B14F-4D97-AF65-F5344CB8AC3E}">
        <p14:creationId xmlns:p14="http://schemas.microsoft.com/office/powerpoint/2010/main" val="16566569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AR"/>
            </a:p>
          </p:txBody>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AR"/>
            </a:p>
          </p:txBody>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AR"/>
            </a:p>
          </p:txBody>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AR"/>
            </a:p>
          </p:txBody>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12868C2D-E414-47BF-A801-29641B78902C}" type="datetimeFigureOut">
              <a:rPr lang="es-AR" smtClean="0"/>
              <a:t>4/11/2025</a:t>
            </a:fld>
            <a:endParaRPr lang="es-AR"/>
          </a:p>
        </p:txBody>
      </p:sp>
      <p:sp>
        <p:nvSpPr>
          <p:cNvPr id="5" name="Footer Placeholder 4"/>
          <p:cNvSpPr>
            <a:spLocks noGrp="1"/>
          </p:cNvSpPr>
          <p:nvPr>
            <p:ph type="ftr" sz="quarter" idx="11"/>
          </p:nvPr>
        </p:nvSpPr>
        <p:spPr>
          <a:xfrm>
            <a:off x="1900237" y="5410202"/>
            <a:ext cx="3843665" cy="365125"/>
          </a:xfrm>
        </p:spPr>
        <p:txBody>
          <a:bodyPr/>
          <a:lstStyle/>
          <a:p>
            <a:endParaRPr lang="es-AR"/>
          </a:p>
        </p:txBody>
      </p:sp>
      <p:sp>
        <p:nvSpPr>
          <p:cNvPr id="6" name="Slide Number Placeholder 5"/>
          <p:cNvSpPr>
            <a:spLocks noGrp="1"/>
          </p:cNvSpPr>
          <p:nvPr>
            <p:ph type="sldNum" sz="quarter" idx="12"/>
          </p:nvPr>
        </p:nvSpPr>
        <p:spPr>
          <a:xfrm>
            <a:off x="7915603" y="5410200"/>
            <a:ext cx="578317" cy="365125"/>
          </a:xfrm>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3740453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s-ES"/>
              <a:t>Haga clic para modificar el estilo de título del patrón</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12868C2D-E414-47BF-A801-29641B78902C}" type="datetimeFigureOut">
              <a:rPr lang="es-AR" smtClean="0"/>
              <a:t>4/11/2025</a:t>
            </a:fld>
            <a:endParaRPr lang="es-AR"/>
          </a:p>
        </p:txBody>
      </p:sp>
      <p:sp>
        <p:nvSpPr>
          <p:cNvPr id="50" name="Footer Placeholder 4"/>
          <p:cNvSpPr>
            <a:spLocks noGrp="1"/>
          </p:cNvSpPr>
          <p:nvPr>
            <p:ph type="ftr" sz="quarter" idx="11"/>
          </p:nvPr>
        </p:nvSpPr>
        <p:spPr>
          <a:xfrm>
            <a:off x="856059" y="5883276"/>
            <a:ext cx="4679482" cy="365125"/>
          </a:xfrm>
        </p:spPr>
        <p:txBody>
          <a:bodyPr/>
          <a:lstStyle/>
          <a:p>
            <a:endParaRPr lang="es-AR"/>
          </a:p>
        </p:txBody>
      </p:sp>
      <p:sp>
        <p:nvSpPr>
          <p:cNvPr id="51" name="Slide Number Placeholder 5"/>
          <p:cNvSpPr>
            <a:spLocks noGrp="1"/>
          </p:cNvSpPr>
          <p:nvPr>
            <p:ph type="sldNum" sz="quarter" idx="12"/>
          </p:nvPr>
        </p:nvSpPr>
        <p:spPr>
          <a:xfrm>
            <a:off x="7707241" y="5883275"/>
            <a:ext cx="578317" cy="365125"/>
          </a:xfrm>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2016533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2868C2D-E414-47BF-A801-29641B78902C}" type="datetimeFigureOut">
              <a:rPr lang="es-AR" smtClean="0"/>
              <a:t>4/11/2025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1447685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2868C2D-E414-47BF-A801-29641B78902C}" type="datetimeFigureOut">
              <a:rPr lang="es-AR" smtClean="0"/>
              <a:t>4/11/2025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998864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56058" y="3073398"/>
            <a:ext cx="3658793"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3073398"/>
            <a:ext cx="3656408"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2868C2D-E414-47BF-A801-29641B78902C}" type="datetimeFigureOut">
              <a:rPr lang="es-AR" smtClean="0"/>
              <a:t>4/11/2025</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4187811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2868C2D-E414-47BF-A801-29641B78902C}" type="datetimeFigureOut">
              <a:rPr lang="es-AR" smtClean="0"/>
              <a:t>4/11/2025</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1687251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868C2D-E414-47BF-A801-29641B78902C}" type="datetimeFigureOut">
              <a:rPr lang="es-AR" smtClean="0"/>
              <a:t>4/11/2025</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1952965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2868C2D-E414-47BF-A801-29641B78902C}" type="datetimeFigureOut">
              <a:rPr lang="es-AR" smtClean="0"/>
              <a:t>4/11/2025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2629368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2868C2D-E414-47BF-A801-29641B78902C}" type="datetimeFigureOut">
              <a:rPr lang="es-AR" smtClean="0"/>
              <a:t>4/11/2025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2951390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2868C2D-E414-47BF-A801-29641B78902C}" type="datetimeFigureOut">
              <a:rPr lang="es-AR" smtClean="0"/>
              <a:t>4/11/2025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2882393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2868C2D-E414-47BF-A801-29641B78902C}" type="datetimeFigureOut">
              <a:rPr lang="es-AR" smtClean="0"/>
              <a:t>4/11/2025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1281680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2868C2D-E414-47BF-A801-29641B78902C}" type="datetimeFigureOut">
              <a:rPr lang="es-AR" smtClean="0"/>
              <a:t>4/11/2025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297BD90-8D7F-42A4-9842-373A5D9BF9A4}" type="slidenum">
              <a:rPr lang="es-AR" smtClean="0"/>
              <a:t>‹Nº›</a:t>
            </a:fld>
            <a:endParaRPr lang="es-AR"/>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2426213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2868C2D-E414-47BF-A801-29641B78902C}" type="datetimeFigureOut">
              <a:rPr lang="es-AR" smtClean="0"/>
              <a:t>4/11/2025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2949899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2868C2D-E414-47BF-A801-29641B78902C}" type="datetimeFigureOut">
              <a:rPr lang="es-AR" smtClean="0"/>
              <a:t>4/11/2025</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23805763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2868C2D-E414-47BF-A801-29641B78902C}" type="datetimeFigureOut">
              <a:rPr lang="es-AR" smtClean="0"/>
              <a:t>4/11/2025</a:t>
            </a:fld>
            <a:endParaRPr lang="es-AR"/>
          </a:p>
        </p:txBody>
      </p:sp>
      <p:sp>
        <p:nvSpPr>
          <p:cNvPr id="4" name="Footer Placeholder 3"/>
          <p:cNvSpPr>
            <a:spLocks noGrp="1"/>
          </p:cNvSpPr>
          <p:nvPr>
            <p:ph type="ftr" sz="quarter" idx="11"/>
          </p:nvPr>
        </p:nvSpPr>
        <p:spPr/>
        <p:txBody>
          <a:bodyPr/>
          <a:lstStyle>
            <a:lvl1pPr>
              <a:defRPr cap="all" baseline="0"/>
            </a:lvl1pPr>
          </a:lstStyle>
          <a:p>
            <a:endParaRPr lang="es-AR"/>
          </a:p>
        </p:txBody>
      </p:sp>
      <p:sp>
        <p:nvSpPr>
          <p:cNvPr id="5" name="Slide Number Placeholder 4"/>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2718304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868C2D-E414-47BF-A801-29641B78902C}" type="datetimeFigureOut">
              <a:rPr lang="es-AR" smtClean="0"/>
              <a:t>4/11/2025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3901897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868C2D-E414-47BF-A801-29641B78902C}" type="datetimeFigureOut">
              <a:rPr lang="es-AR" smtClean="0"/>
              <a:t>4/11/2025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5297BD90-8D7F-42A4-9842-373A5D9BF9A4}" type="slidenum">
              <a:rPr lang="es-AR" smtClean="0"/>
              <a:t>‹Nº›</a:t>
            </a:fld>
            <a:endParaRPr lang="es-AR"/>
          </a:p>
        </p:txBody>
      </p:sp>
    </p:spTree>
    <p:extLst>
      <p:ext uri="{BB962C8B-B14F-4D97-AF65-F5344CB8AC3E}">
        <p14:creationId xmlns:p14="http://schemas.microsoft.com/office/powerpoint/2010/main" val="3810964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AR"/>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AR"/>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AR"/>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AR"/>
              </a:p>
            </p:txBody>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2868C2D-E414-47BF-A801-29641B78902C}" type="datetimeFigureOut">
              <a:rPr lang="es-AR" smtClean="0"/>
              <a:t>4/11/2025</a:t>
            </a:fld>
            <a:endParaRPr lang="es-AR"/>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297BD90-8D7F-42A4-9842-373A5D9BF9A4}" type="slidenum">
              <a:rPr lang="es-AR" smtClean="0"/>
              <a:t>‹Nº›</a:t>
            </a:fld>
            <a:endParaRPr lang="es-AR"/>
          </a:p>
        </p:txBody>
      </p:sp>
    </p:spTree>
    <p:extLst>
      <p:ext uri="{BB962C8B-B14F-4D97-AF65-F5344CB8AC3E}">
        <p14:creationId xmlns:p14="http://schemas.microsoft.com/office/powerpoint/2010/main" val="2433880794"/>
      </p:ext>
    </p:extLst>
  </p:cSld>
  <p:clrMap bg1="dk1" tx1="lt1" bg2="dk2" tx2="lt2" accent1="accent1" accent2="accent2" accent3="accent3" accent4="accent4" accent5="accent5" accent6="accent6" hlink="hlink" folHlink="folHlink"/>
  <p:sldLayoutIdLst>
    <p:sldLayoutId id="2147484383" r:id="rId1"/>
    <p:sldLayoutId id="2147484384" r:id="rId2"/>
    <p:sldLayoutId id="2147484385" r:id="rId3"/>
    <p:sldLayoutId id="2147484386" r:id="rId4"/>
    <p:sldLayoutId id="2147484387" r:id="rId5"/>
    <p:sldLayoutId id="2147484388" r:id="rId6"/>
    <p:sldLayoutId id="2147484389" r:id="rId7"/>
    <p:sldLayoutId id="2147484390" r:id="rId8"/>
    <p:sldLayoutId id="2147484391" r:id="rId9"/>
    <p:sldLayoutId id="2147484392" r:id="rId10"/>
    <p:sldLayoutId id="2147484393" r:id="rId11"/>
    <p:sldLayoutId id="2147484394" r:id="rId12"/>
    <p:sldLayoutId id="2147484395" r:id="rId13"/>
    <p:sldLayoutId id="2147484396" r:id="rId14"/>
    <p:sldLayoutId id="2147484397" r:id="rId15"/>
    <p:sldLayoutId id="2147484398" r:id="rId16"/>
    <p:sldLayoutId id="214748439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110CB11-8822-E3BF-7486-6B4267420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3585" y="-114300"/>
            <a:ext cx="5296829" cy="1650103"/>
          </a:xfrm>
          <a:prstGeom prst="rect">
            <a:avLst/>
          </a:prstGeom>
        </p:spPr>
      </p:pic>
      <p:pic>
        <p:nvPicPr>
          <p:cNvPr id="24" name="Imagen 23">
            <a:extLst>
              <a:ext uri="{FF2B5EF4-FFF2-40B4-BE49-F238E27FC236}">
                <a16:creationId xmlns:a16="http://schemas.microsoft.com/office/drawing/2014/main" id="{0846B698-7E74-F6CD-A8F3-65F7831114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5740684"/>
            <a:ext cx="5886450" cy="1117316"/>
          </a:xfrm>
          <a:prstGeom prst="rect">
            <a:avLst/>
          </a:prstGeom>
        </p:spPr>
      </p:pic>
      <p:sp>
        <p:nvSpPr>
          <p:cNvPr id="25" name="CuadroTexto 24">
            <a:extLst>
              <a:ext uri="{FF2B5EF4-FFF2-40B4-BE49-F238E27FC236}">
                <a16:creationId xmlns:a16="http://schemas.microsoft.com/office/drawing/2014/main" id="{0133AF12-792F-DF32-24FC-01A822EBCAF0}"/>
              </a:ext>
            </a:extLst>
          </p:cNvPr>
          <p:cNvSpPr txBox="1"/>
          <p:nvPr/>
        </p:nvSpPr>
        <p:spPr>
          <a:xfrm>
            <a:off x="1485899" y="2946051"/>
            <a:ext cx="6867525" cy="1569660"/>
          </a:xfrm>
          <a:prstGeom prst="rect">
            <a:avLst/>
          </a:prstGeom>
          <a:noFill/>
        </p:spPr>
        <p:txBody>
          <a:bodyPr wrap="square" rtlCol="0">
            <a:spAutoFit/>
          </a:bodyPr>
          <a:lstStyle/>
          <a:p>
            <a:pPr algn="ctr"/>
            <a:r>
              <a:rPr lang="es-MX" sz="3200" b="1" dirty="0">
                <a:solidFill>
                  <a:schemeClr val="accent5">
                    <a:lumMod val="10000"/>
                  </a:schemeClr>
                </a:solidFill>
              </a:rPr>
              <a:t>Sistema de envió de Correos Automáticos y Corrección de  Capas Qgis y Google Earth-Pro </a:t>
            </a:r>
            <a:endParaRPr lang="es-AR" sz="3200" b="1" dirty="0">
              <a:solidFill>
                <a:schemeClr val="accent5">
                  <a:lumMod val="10000"/>
                </a:schemeClr>
              </a:solidFill>
            </a:endParaRPr>
          </a:p>
        </p:txBody>
      </p:sp>
    </p:spTree>
    <p:extLst>
      <p:ext uri="{BB962C8B-B14F-4D97-AF65-F5344CB8AC3E}">
        <p14:creationId xmlns:p14="http://schemas.microsoft.com/office/powerpoint/2010/main" val="492601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49507-BB96-7657-CCDE-EEECB762DE2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33E5991-7E4E-A9F0-8CB5-1EEC51D79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3585" y="-114300"/>
            <a:ext cx="5296829" cy="1650103"/>
          </a:xfrm>
          <a:prstGeom prst="rect">
            <a:avLst/>
          </a:prstGeom>
        </p:spPr>
      </p:pic>
      <p:pic>
        <p:nvPicPr>
          <p:cNvPr id="24" name="Imagen 23">
            <a:extLst>
              <a:ext uri="{FF2B5EF4-FFF2-40B4-BE49-F238E27FC236}">
                <a16:creationId xmlns:a16="http://schemas.microsoft.com/office/drawing/2014/main" id="{EEE07F9A-15B4-7BCB-3ABE-FD34016CC2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5740684"/>
            <a:ext cx="5886450" cy="1117316"/>
          </a:xfrm>
          <a:prstGeom prst="rect">
            <a:avLst/>
          </a:prstGeom>
        </p:spPr>
      </p:pic>
      <p:sp>
        <p:nvSpPr>
          <p:cNvPr id="2" name="CuadroTexto 1">
            <a:extLst>
              <a:ext uri="{FF2B5EF4-FFF2-40B4-BE49-F238E27FC236}">
                <a16:creationId xmlns:a16="http://schemas.microsoft.com/office/drawing/2014/main" id="{7B8F1037-5C3A-5D5F-8617-4C08D0DAB954}"/>
              </a:ext>
            </a:extLst>
          </p:cNvPr>
          <p:cNvSpPr txBox="1"/>
          <p:nvPr/>
        </p:nvSpPr>
        <p:spPr>
          <a:xfrm>
            <a:off x="755870" y="1822099"/>
            <a:ext cx="8388130" cy="2585323"/>
          </a:xfrm>
          <a:prstGeom prst="rect">
            <a:avLst/>
          </a:prstGeom>
          <a:noFill/>
        </p:spPr>
        <p:txBody>
          <a:bodyPr wrap="none" rtlCol="0">
            <a:spAutoFit/>
          </a:bodyPr>
          <a:lstStyle/>
          <a:p>
            <a:endParaRPr lang="es-AR" dirty="0"/>
          </a:p>
          <a:p>
            <a:r>
              <a:rPr lang="es-MX" dirty="0"/>
              <a:t>CARRERA: </a:t>
            </a:r>
            <a:r>
              <a:rPr lang="es-MX" b="1" dirty="0"/>
              <a:t>Tecnicatura Universitaria En Programación. </a:t>
            </a:r>
          </a:p>
          <a:p>
            <a:r>
              <a:rPr lang="es-MX" dirty="0"/>
              <a:t>APELLIDO Y NOMBRE: </a:t>
            </a:r>
            <a:r>
              <a:rPr lang="es-MX" b="1" dirty="0"/>
              <a:t>Ferrero, Enzo Genaro</a:t>
            </a:r>
          </a:p>
          <a:p>
            <a:r>
              <a:rPr lang="es-MX" dirty="0"/>
              <a:t>D.N.I.: </a:t>
            </a:r>
            <a:r>
              <a:rPr lang="es-MX" b="1" dirty="0"/>
              <a:t>40.561.976 </a:t>
            </a:r>
          </a:p>
          <a:p>
            <a:r>
              <a:rPr lang="es-MX" dirty="0"/>
              <a:t>LEGAJO: </a:t>
            </a:r>
            <a:r>
              <a:rPr lang="es-MX" b="1" dirty="0"/>
              <a:t>10376</a:t>
            </a:r>
          </a:p>
          <a:p>
            <a:r>
              <a:rPr lang="es-MX" dirty="0"/>
              <a:t>DOMICILIO: </a:t>
            </a:r>
            <a:r>
              <a:rPr lang="es-MX" b="1" dirty="0"/>
              <a:t>Alem N°142 </a:t>
            </a:r>
            <a:r>
              <a:rPr lang="es-MX" dirty="0"/>
              <a:t>– Ciudad de San Rafael </a:t>
            </a:r>
          </a:p>
          <a:p>
            <a:r>
              <a:rPr lang="es-MX" dirty="0"/>
              <a:t>E-MAIL DE CONTACTO: </a:t>
            </a:r>
            <a:r>
              <a:rPr lang="es-MX" b="1" dirty="0"/>
              <a:t>genaroenzo4@gmail.com </a:t>
            </a:r>
          </a:p>
          <a:p>
            <a:r>
              <a:rPr lang="es-MX" dirty="0"/>
              <a:t>TRABAJO: </a:t>
            </a:r>
            <a:r>
              <a:rPr lang="es-MX" b="1" dirty="0"/>
              <a:t>Técnico/Administrativo en la División de Aguas Subterráneas perteneciente</a:t>
            </a:r>
          </a:p>
          <a:p>
            <a:r>
              <a:rPr lang="es-MX" b="1" dirty="0"/>
              <a:t> a Subdelegación Río Diamante (Departamento General de Irrigación). </a:t>
            </a:r>
            <a:endParaRPr lang="es-AR" dirty="0"/>
          </a:p>
        </p:txBody>
      </p:sp>
    </p:spTree>
    <p:extLst>
      <p:ext uri="{BB962C8B-B14F-4D97-AF65-F5344CB8AC3E}">
        <p14:creationId xmlns:p14="http://schemas.microsoft.com/office/powerpoint/2010/main" val="2879552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082D98-3783-B1BC-CE6E-BFF6C1C0AA97}"/>
              </a:ext>
            </a:extLst>
          </p:cNvPr>
          <p:cNvSpPr>
            <a:spLocks noGrp="1"/>
          </p:cNvSpPr>
          <p:nvPr>
            <p:ph type="ctrTitle"/>
          </p:nvPr>
        </p:nvSpPr>
        <p:spPr>
          <a:xfrm>
            <a:off x="2166567" y="701336"/>
            <a:ext cx="6593681" cy="994298"/>
          </a:xfrm>
        </p:spPr>
        <p:txBody>
          <a:bodyPr/>
          <a:lstStyle/>
          <a:p>
            <a:r>
              <a:rPr lang="es-MX" dirty="0"/>
              <a:t>Cronología </a:t>
            </a:r>
            <a:endParaRPr lang="es-AR" dirty="0"/>
          </a:p>
        </p:txBody>
      </p:sp>
      <p:sp>
        <p:nvSpPr>
          <p:cNvPr id="5" name="CuadroTexto 4">
            <a:extLst>
              <a:ext uri="{FF2B5EF4-FFF2-40B4-BE49-F238E27FC236}">
                <a16:creationId xmlns:a16="http://schemas.microsoft.com/office/drawing/2014/main" id="{22982E9C-2BD2-B4B4-61A3-B9BD7D07210A}"/>
              </a:ext>
            </a:extLst>
          </p:cNvPr>
          <p:cNvSpPr txBox="1"/>
          <p:nvPr/>
        </p:nvSpPr>
        <p:spPr>
          <a:xfrm>
            <a:off x="551302" y="1605661"/>
            <a:ext cx="8365047" cy="2031325"/>
          </a:xfrm>
          <a:prstGeom prst="rect">
            <a:avLst/>
          </a:prstGeom>
          <a:noFill/>
        </p:spPr>
        <p:txBody>
          <a:bodyPr wrap="none" rtlCol="0">
            <a:spAutoFit/>
          </a:bodyPr>
          <a:lstStyle/>
          <a:p>
            <a:pPr algn="just"/>
            <a:r>
              <a:rPr lang="es-MX" b="1" dirty="0">
                <a:solidFill>
                  <a:schemeClr val="accent5">
                    <a:lumMod val="10000"/>
                  </a:schemeClr>
                </a:solidFill>
              </a:rPr>
              <a:t>Se Establecido un régimen de trabajo de  6 Horas por semanas.</a:t>
            </a:r>
          </a:p>
          <a:p>
            <a:pPr algn="just"/>
            <a:r>
              <a:rPr lang="es-MX" b="1" dirty="0">
                <a:solidFill>
                  <a:schemeClr val="accent5">
                    <a:lumMod val="10000"/>
                  </a:schemeClr>
                </a:solidFill>
              </a:rPr>
              <a:t>Como desventaja al ser un trabajo individual y no grupal se tuvieron que trabajar</a:t>
            </a:r>
          </a:p>
          <a:p>
            <a:pPr algn="just"/>
            <a:r>
              <a:rPr lang="es-MX" b="1" dirty="0">
                <a:solidFill>
                  <a:schemeClr val="accent5">
                    <a:lumMod val="10000"/>
                  </a:schemeClr>
                </a:solidFill>
              </a:rPr>
              <a:t>más horas de los previsto para poder lograr los objetivos propuestos, pero lo positivo</a:t>
            </a:r>
          </a:p>
          <a:p>
            <a:pPr algn="just"/>
            <a:r>
              <a:rPr lang="es-MX" b="1" dirty="0">
                <a:solidFill>
                  <a:schemeClr val="accent5">
                    <a:lumMod val="10000"/>
                  </a:schemeClr>
                </a:solidFill>
              </a:rPr>
              <a:t>fue que  se logro realizar lo propuesto y aprender de todas las tareas</a:t>
            </a:r>
          </a:p>
          <a:p>
            <a:pPr algn="just"/>
            <a:r>
              <a:rPr lang="es-MX" b="1" dirty="0">
                <a:solidFill>
                  <a:schemeClr val="accent5">
                    <a:lumMod val="10000"/>
                  </a:schemeClr>
                </a:solidFill>
              </a:rPr>
              <a:t>realizadas ya que todas fueron de autoría propia</a:t>
            </a:r>
          </a:p>
          <a:p>
            <a:pPr algn="ctr"/>
            <a:r>
              <a:rPr lang="es-AR" b="1" dirty="0">
                <a:solidFill>
                  <a:srgbClr val="FF0000"/>
                </a:solidFill>
              </a:rPr>
              <a:t>Link del Repositorio</a:t>
            </a:r>
          </a:p>
          <a:p>
            <a:pPr algn="ctr"/>
            <a:r>
              <a:rPr lang="es-AR" b="1" dirty="0">
                <a:solidFill>
                  <a:srgbClr val="FF0000"/>
                </a:solidFill>
              </a:rPr>
              <a:t>https://github.com/GENAROENZO/Practicas-Profesionales-</a:t>
            </a:r>
          </a:p>
        </p:txBody>
      </p:sp>
      <p:pic>
        <p:nvPicPr>
          <p:cNvPr id="7" name="Imagen 6">
            <a:extLst>
              <a:ext uri="{FF2B5EF4-FFF2-40B4-BE49-F238E27FC236}">
                <a16:creationId xmlns:a16="http://schemas.microsoft.com/office/drawing/2014/main" id="{6B34F6F3-9618-5CAD-0EC1-FADC4F280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6567" y="3775011"/>
            <a:ext cx="5299923" cy="2381653"/>
          </a:xfrm>
          <a:prstGeom prst="rect">
            <a:avLst/>
          </a:prstGeom>
        </p:spPr>
      </p:pic>
      <p:sp>
        <p:nvSpPr>
          <p:cNvPr id="8" name="CuadroTexto 7">
            <a:extLst>
              <a:ext uri="{FF2B5EF4-FFF2-40B4-BE49-F238E27FC236}">
                <a16:creationId xmlns:a16="http://schemas.microsoft.com/office/drawing/2014/main" id="{177E5B4A-9362-1AC8-8929-4D1E73690643}"/>
              </a:ext>
            </a:extLst>
          </p:cNvPr>
          <p:cNvSpPr txBox="1"/>
          <p:nvPr/>
        </p:nvSpPr>
        <p:spPr>
          <a:xfrm>
            <a:off x="2427477" y="6223239"/>
            <a:ext cx="4627934" cy="369332"/>
          </a:xfrm>
          <a:prstGeom prst="rect">
            <a:avLst/>
          </a:prstGeom>
          <a:noFill/>
        </p:spPr>
        <p:txBody>
          <a:bodyPr wrap="none" rtlCol="0">
            <a:spAutoFit/>
          </a:bodyPr>
          <a:lstStyle/>
          <a:p>
            <a:r>
              <a:rPr lang="es-MX" dirty="0"/>
              <a:t>Imagen propia trabajado en Visual Studio Code</a:t>
            </a:r>
            <a:endParaRPr lang="es-AR" dirty="0"/>
          </a:p>
        </p:txBody>
      </p:sp>
    </p:spTree>
    <p:extLst>
      <p:ext uri="{BB962C8B-B14F-4D97-AF65-F5344CB8AC3E}">
        <p14:creationId xmlns:p14="http://schemas.microsoft.com/office/powerpoint/2010/main" val="3960133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20E6A8-C3AA-D9C0-ED28-41A0F966D39C}"/>
              </a:ext>
            </a:extLst>
          </p:cNvPr>
          <p:cNvSpPr>
            <a:spLocks noGrp="1"/>
          </p:cNvSpPr>
          <p:nvPr>
            <p:ph type="title"/>
          </p:nvPr>
        </p:nvSpPr>
        <p:spPr/>
        <p:txBody>
          <a:bodyPr>
            <a:normAutofit fontScale="90000"/>
          </a:bodyPr>
          <a:lstStyle/>
          <a:p>
            <a:r>
              <a:rPr lang="es-MX" dirty="0"/>
              <a:t>Resumen de las practicas profesionales </a:t>
            </a:r>
            <a:endParaRPr lang="es-AR" dirty="0"/>
          </a:p>
        </p:txBody>
      </p:sp>
      <p:sp>
        <p:nvSpPr>
          <p:cNvPr id="4" name="Marcador de texto 3">
            <a:extLst>
              <a:ext uri="{FF2B5EF4-FFF2-40B4-BE49-F238E27FC236}">
                <a16:creationId xmlns:a16="http://schemas.microsoft.com/office/drawing/2014/main" id="{212B9B80-A836-2DE5-2399-D6D50A057EA4}"/>
              </a:ext>
            </a:extLst>
          </p:cNvPr>
          <p:cNvSpPr>
            <a:spLocks noGrp="1"/>
          </p:cNvSpPr>
          <p:nvPr>
            <p:ph type="body" sz="half" idx="2"/>
          </p:nvPr>
        </p:nvSpPr>
        <p:spPr>
          <a:xfrm>
            <a:off x="860028" y="2249486"/>
            <a:ext cx="5123521" cy="3654164"/>
          </a:xfrm>
        </p:spPr>
        <p:txBody>
          <a:bodyPr/>
          <a:lstStyle/>
          <a:p>
            <a:pPr algn="just"/>
            <a:r>
              <a:rPr lang="es-MX" dirty="0">
                <a:solidFill>
                  <a:schemeClr val="bg1">
                    <a:lumMod val="50000"/>
                  </a:schemeClr>
                </a:solidFill>
              </a:rPr>
              <a:t>A lo largo de las practicas profesionales logre cumplir con los objetivos propuestos. Mejorando el día a día de los empleados del área de Aguas Subterráneas con herramientas prácticas y aplicación de conceptos aprendidos en la Técnicatura Universitaria el Programación. El proyecto fue presentado de forma personal al director de Aguas Subterránea de la provincia de Mendoza quien dio el apoyo accesos a material institucional. Con el surgimiento de nuevas necesidades se terminaron agregando cambios y extras al pedido inicial.</a:t>
            </a:r>
            <a:endParaRPr lang="es-AR" dirty="0">
              <a:solidFill>
                <a:schemeClr val="bg1">
                  <a:lumMod val="50000"/>
                </a:schemeClr>
              </a:solidFill>
            </a:endParaRPr>
          </a:p>
        </p:txBody>
      </p:sp>
    </p:spTree>
    <p:extLst>
      <p:ext uri="{BB962C8B-B14F-4D97-AF65-F5344CB8AC3E}">
        <p14:creationId xmlns:p14="http://schemas.microsoft.com/office/powerpoint/2010/main" val="112814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58CF77-86F9-3C1F-DB97-20B5F88BB9F2}"/>
              </a:ext>
            </a:extLst>
          </p:cNvPr>
          <p:cNvSpPr>
            <a:spLocks noGrp="1"/>
          </p:cNvSpPr>
          <p:nvPr>
            <p:ph type="title"/>
          </p:nvPr>
        </p:nvSpPr>
        <p:spPr>
          <a:xfrm>
            <a:off x="1003178" y="280705"/>
            <a:ext cx="7429499" cy="1478570"/>
          </a:xfrm>
        </p:spPr>
        <p:txBody>
          <a:bodyPr/>
          <a:lstStyle/>
          <a:p>
            <a:r>
              <a:rPr lang="es-MX" dirty="0"/>
              <a:t>Objetivos </a:t>
            </a:r>
            <a:endParaRPr lang="es-AR" dirty="0"/>
          </a:p>
        </p:txBody>
      </p:sp>
      <p:sp>
        <p:nvSpPr>
          <p:cNvPr id="4" name="CuadroTexto 3">
            <a:extLst>
              <a:ext uri="{FF2B5EF4-FFF2-40B4-BE49-F238E27FC236}">
                <a16:creationId xmlns:a16="http://schemas.microsoft.com/office/drawing/2014/main" id="{395D084E-5658-28E9-ADDA-7C45A721DE4E}"/>
              </a:ext>
            </a:extLst>
          </p:cNvPr>
          <p:cNvSpPr txBox="1"/>
          <p:nvPr/>
        </p:nvSpPr>
        <p:spPr>
          <a:xfrm>
            <a:off x="1003178" y="1653205"/>
            <a:ext cx="5584053" cy="2288481"/>
          </a:xfrm>
          <a:prstGeom prst="rect">
            <a:avLst/>
          </a:prstGeom>
          <a:noFill/>
        </p:spPr>
        <p:txBody>
          <a:bodyPr wrap="square" rtlCol="0">
            <a:spAutoFit/>
          </a:bodyPr>
          <a:lstStyle/>
          <a:p>
            <a:pPr algn="just"/>
            <a:r>
              <a:rPr lang="es-MX" dirty="0">
                <a:solidFill>
                  <a:schemeClr val="bg1">
                    <a:lumMod val="50000"/>
                  </a:schemeClr>
                </a:solidFill>
              </a:rPr>
              <a:t>1.Diseño de un sistemas de envío de Correos Automáticos programados a partir de Google Drive utilizando Google Sheets, JavaScript, HTML y Excel.</a:t>
            </a:r>
          </a:p>
          <a:p>
            <a:pPr algn="just"/>
            <a:endParaRPr lang="es-MX" dirty="0">
              <a:solidFill>
                <a:schemeClr val="bg1">
                  <a:lumMod val="50000"/>
                </a:schemeClr>
              </a:solidFill>
            </a:endParaRPr>
          </a:p>
          <a:p>
            <a:pPr algn="just"/>
            <a:r>
              <a:rPr lang="es-MX" dirty="0">
                <a:solidFill>
                  <a:schemeClr val="bg1">
                    <a:lumMod val="50000"/>
                  </a:schemeClr>
                </a:solidFill>
              </a:rPr>
              <a:t>2. Analizar y modificar capas de Qgis y Google Earth el fin de corregir Información y Actualizar las mismas para que sean más fáciles las tareas diarias de los empleados en la Subdelegación.</a:t>
            </a:r>
            <a:endParaRPr lang="es-AR" dirty="0">
              <a:solidFill>
                <a:schemeClr val="bg1">
                  <a:lumMod val="50000"/>
                </a:schemeClr>
              </a:solidFill>
            </a:endParaRPr>
          </a:p>
        </p:txBody>
      </p:sp>
      <p:pic>
        <p:nvPicPr>
          <p:cNvPr id="8" name="Imagen 7">
            <a:extLst>
              <a:ext uri="{FF2B5EF4-FFF2-40B4-BE49-F238E27FC236}">
                <a16:creationId xmlns:a16="http://schemas.microsoft.com/office/drawing/2014/main" id="{E623DAA1-0C1A-452D-6885-4ABFD09C3D1D}"/>
              </a:ext>
            </a:extLst>
          </p:cNvPr>
          <p:cNvPicPr>
            <a:picLocks noChangeAspect="1"/>
          </p:cNvPicPr>
          <p:nvPr/>
        </p:nvPicPr>
        <p:blipFill>
          <a:blip r:embed="rId2"/>
          <a:stretch>
            <a:fillRect/>
          </a:stretch>
        </p:blipFill>
        <p:spPr>
          <a:xfrm>
            <a:off x="3409025" y="3700669"/>
            <a:ext cx="5131292" cy="2796114"/>
          </a:xfrm>
          <a:prstGeom prst="rect">
            <a:avLst/>
          </a:prstGeom>
        </p:spPr>
      </p:pic>
      <p:sp>
        <p:nvSpPr>
          <p:cNvPr id="9" name="CuadroTexto 8">
            <a:extLst>
              <a:ext uri="{FF2B5EF4-FFF2-40B4-BE49-F238E27FC236}">
                <a16:creationId xmlns:a16="http://schemas.microsoft.com/office/drawing/2014/main" id="{5F95E882-5BB3-72D8-2973-2B4761147269}"/>
              </a:ext>
            </a:extLst>
          </p:cNvPr>
          <p:cNvSpPr txBox="1"/>
          <p:nvPr/>
        </p:nvSpPr>
        <p:spPr>
          <a:xfrm>
            <a:off x="3887208" y="6488668"/>
            <a:ext cx="4174925" cy="369332"/>
          </a:xfrm>
          <a:prstGeom prst="rect">
            <a:avLst/>
          </a:prstGeom>
          <a:noFill/>
        </p:spPr>
        <p:txBody>
          <a:bodyPr wrap="none" rtlCol="0">
            <a:spAutoFit/>
          </a:bodyPr>
          <a:lstStyle/>
          <a:p>
            <a:r>
              <a:rPr lang="es-MX" i="1" dirty="0"/>
              <a:t>Imagen de la Subdelegación Rio Diamante </a:t>
            </a:r>
            <a:endParaRPr lang="es-AR" i="1" dirty="0"/>
          </a:p>
        </p:txBody>
      </p:sp>
    </p:spTree>
    <p:extLst>
      <p:ext uri="{BB962C8B-B14F-4D97-AF65-F5344CB8AC3E}">
        <p14:creationId xmlns:p14="http://schemas.microsoft.com/office/powerpoint/2010/main" val="3141075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3ACB94-0A5E-2BB5-7553-EF0AAF79C573}"/>
              </a:ext>
            </a:extLst>
          </p:cNvPr>
          <p:cNvSpPr>
            <a:spLocks noGrp="1"/>
          </p:cNvSpPr>
          <p:nvPr>
            <p:ph type="title"/>
          </p:nvPr>
        </p:nvSpPr>
        <p:spPr>
          <a:xfrm>
            <a:off x="642993" y="-73371"/>
            <a:ext cx="7429500" cy="1477961"/>
          </a:xfrm>
        </p:spPr>
        <p:txBody>
          <a:bodyPr>
            <a:normAutofit/>
          </a:bodyPr>
          <a:lstStyle/>
          <a:p>
            <a:pPr algn="ctr"/>
            <a:r>
              <a:rPr lang="es-MX" sz="4000" dirty="0"/>
              <a:t>Usos Prácticos</a:t>
            </a:r>
            <a:endParaRPr lang="es-AR" sz="4000" dirty="0"/>
          </a:p>
        </p:txBody>
      </p:sp>
      <p:sp>
        <p:nvSpPr>
          <p:cNvPr id="4" name="Marcador de contenido 3">
            <a:extLst>
              <a:ext uri="{FF2B5EF4-FFF2-40B4-BE49-F238E27FC236}">
                <a16:creationId xmlns:a16="http://schemas.microsoft.com/office/drawing/2014/main" id="{83B0ADE8-08E7-A216-B0D4-1634203FE4D9}"/>
              </a:ext>
            </a:extLst>
          </p:cNvPr>
          <p:cNvSpPr>
            <a:spLocks noGrp="1"/>
          </p:cNvSpPr>
          <p:nvPr>
            <p:ph sz="half" idx="2"/>
          </p:nvPr>
        </p:nvSpPr>
        <p:spPr>
          <a:xfrm>
            <a:off x="856057" y="1773923"/>
            <a:ext cx="5509231" cy="3153184"/>
          </a:xfrm>
        </p:spPr>
        <p:txBody>
          <a:bodyPr>
            <a:normAutofit/>
          </a:bodyPr>
          <a:lstStyle/>
          <a:p>
            <a:r>
              <a:rPr lang="es-MX" sz="1400" dirty="0">
                <a:solidFill>
                  <a:schemeClr val="accent5">
                    <a:lumMod val="10000"/>
                  </a:schemeClr>
                </a:solidFill>
              </a:rPr>
              <a:t>Fácil ubicación y lectura de información a Pozos/Perforaciones Cargadas en el servidor de Mapa de Irrigación (Con y sin conexión a internet).</a:t>
            </a:r>
          </a:p>
          <a:p>
            <a:r>
              <a:rPr lang="es-MX" sz="1400" dirty="0">
                <a:solidFill>
                  <a:schemeClr val="accent5">
                    <a:lumMod val="10000"/>
                  </a:schemeClr>
                </a:solidFill>
              </a:rPr>
              <a:t>Velocidad de respuesta a la consulta de los usuarios y mejor manipulación de datos.</a:t>
            </a:r>
            <a:endParaRPr lang="es-AR" sz="1400" dirty="0">
              <a:solidFill>
                <a:schemeClr val="accent5">
                  <a:lumMod val="10000"/>
                </a:schemeClr>
              </a:solidFill>
            </a:endParaRPr>
          </a:p>
        </p:txBody>
      </p:sp>
      <p:sp>
        <p:nvSpPr>
          <p:cNvPr id="11" name="CuadroTexto 10">
            <a:extLst>
              <a:ext uri="{FF2B5EF4-FFF2-40B4-BE49-F238E27FC236}">
                <a16:creationId xmlns:a16="http://schemas.microsoft.com/office/drawing/2014/main" id="{61335D9B-74C6-D99E-7824-A405AC94699C}"/>
              </a:ext>
            </a:extLst>
          </p:cNvPr>
          <p:cNvSpPr txBox="1"/>
          <p:nvPr/>
        </p:nvSpPr>
        <p:spPr>
          <a:xfrm>
            <a:off x="856056" y="880653"/>
            <a:ext cx="6383045" cy="461665"/>
          </a:xfrm>
          <a:prstGeom prst="rect">
            <a:avLst/>
          </a:prstGeom>
          <a:noFill/>
        </p:spPr>
        <p:txBody>
          <a:bodyPr wrap="square" rtlCol="0">
            <a:spAutoFit/>
          </a:bodyPr>
          <a:lstStyle/>
          <a:p>
            <a:r>
              <a:rPr lang="es-MX" sz="2400" dirty="0">
                <a:solidFill>
                  <a:schemeClr val="accent6"/>
                </a:solidFill>
              </a:rPr>
              <a:t>Cambios A Capa- Qgis y Google Earth Pro</a:t>
            </a:r>
            <a:endParaRPr lang="es-AR" sz="2400" dirty="0">
              <a:solidFill>
                <a:schemeClr val="accent6"/>
              </a:solidFill>
            </a:endParaRPr>
          </a:p>
        </p:txBody>
      </p:sp>
      <p:sp>
        <p:nvSpPr>
          <p:cNvPr id="13" name="CuadroTexto 12">
            <a:extLst>
              <a:ext uri="{FF2B5EF4-FFF2-40B4-BE49-F238E27FC236}">
                <a16:creationId xmlns:a16="http://schemas.microsoft.com/office/drawing/2014/main" id="{71EA6BBE-9A8B-0C55-AF1E-A0255706CFAA}"/>
              </a:ext>
            </a:extLst>
          </p:cNvPr>
          <p:cNvSpPr txBox="1"/>
          <p:nvPr/>
        </p:nvSpPr>
        <p:spPr>
          <a:xfrm>
            <a:off x="856056" y="1404591"/>
            <a:ext cx="4443912" cy="369332"/>
          </a:xfrm>
          <a:prstGeom prst="rect">
            <a:avLst/>
          </a:prstGeom>
          <a:noFill/>
        </p:spPr>
        <p:txBody>
          <a:bodyPr wrap="square" rtlCol="0">
            <a:spAutoFit/>
          </a:bodyPr>
          <a:lstStyle/>
          <a:p>
            <a:r>
              <a:rPr lang="es-AR" dirty="0">
                <a:solidFill>
                  <a:schemeClr val="accent6"/>
                </a:solidFill>
              </a:rPr>
              <a:t>1. Capa: Pozos de San Rafael</a:t>
            </a:r>
          </a:p>
        </p:txBody>
      </p:sp>
    </p:spTree>
    <p:extLst>
      <p:ext uri="{BB962C8B-B14F-4D97-AF65-F5344CB8AC3E}">
        <p14:creationId xmlns:p14="http://schemas.microsoft.com/office/powerpoint/2010/main" val="4120798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2B89AEB-783B-75B2-5C0F-3907AD31179E}"/>
              </a:ext>
            </a:extLst>
          </p:cNvPr>
          <p:cNvSpPr>
            <a:spLocks noGrp="1"/>
          </p:cNvSpPr>
          <p:nvPr>
            <p:ph type="body" idx="1"/>
          </p:nvPr>
        </p:nvSpPr>
        <p:spPr/>
        <p:txBody>
          <a:bodyPr/>
          <a:lstStyle/>
          <a:p>
            <a:endParaRPr lang="es-AR"/>
          </a:p>
        </p:txBody>
      </p:sp>
      <p:pic>
        <p:nvPicPr>
          <p:cNvPr id="7" name="Imagen 6">
            <a:extLst>
              <a:ext uri="{FF2B5EF4-FFF2-40B4-BE49-F238E27FC236}">
                <a16:creationId xmlns:a16="http://schemas.microsoft.com/office/drawing/2014/main" id="{7BB29D1B-F559-79B8-C55F-4D593C86A38E}"/>
              </a:ext>
            </a:extLst>
          </p:cNvPr>
          <p:cNvPicPr>
            <a:picLocks noChangeAspect="1"/>
          </p:cNvPicPr>
          <p:nvPr/>
        </p:nvPicPr>
        <p:blipFill>
          <a:blip r:embed="rId2"/>
          <a:stretch>
            <a:fillRect/>
          </a:stretch>
        </p:blipFill>
        <p:spPr>
          <a:xfrm>
            <a:off x="849814" y="663515"/>
            <a:ext cx="7444371" cy="3659494"/>
          </a:xfrm>
          <a:prstGeom prst="rect">
            <a:avLst/>
          </a:prstGeom>
        </p:spPr>
      </p:pic>
      <p:sp>
        <p:nvSpPr>
          <p:cNvPr id="17" name="CuadroTexto 16">
            <a:extLst>
              <a:ext uri="{FF2B5EF4-FFF2-40B4-BE49-F238E27FC236}">
                <a16:creationId xmlns:a16="http://schemas.microsoft.com/office/drawing/2014/main" id="{87B1E7D5-7188-8215-1DCE-2EBD55A7635B}"/>
              </a:ext>
            </a:extLst>
          </p:cNvPr>
          <p:cNvSpPr txBox="1"/>
          <p:nvPr/>
        </p:nvSpPr>
        <p:spPr>
          <a:xfrm>
            <a:off x="1141532" y="4474703"/>
            <a:ext cx="7117141" cy="369332"/>
          </a:xfrm>
          <a:prstGeom prst="rect">
            <a:avLst/>
          </a:prstGeom>
          <a:noFill/>
        </p:spPr>
        <p:txBody>
          <a:bodyPr wrap="none" rtlCol="0">
            <a:spAutoFit/>
          </a:bodyPr>
          <a:lstStyle/>
          <a:p>
            <a:r>
              <a:rPr lang="es-MX" i="1" dirty="0"/>
              <a:t>Ejemplo de uso – Ubicación de Perforación N°17-2265 en Google Earth Pro</a:t>
            </a:r>
            <a:endParaRPr lang="es-AR" i="1" dirty="0"/>
          </a:p>
        </p:txBody>
      </p:sp>
    </p:spTree>
    <p:extLst>
      <p:ext uri="{BB962C8B-B14F-4D97-AF65-F5344CB8AC3E}">
        <p14:creationId xmlns:p14="http://schemas.microsoft.com/office/powerpoint/2010/main" val="2105466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18404EB-B696-DE14-C946-78E07E201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424" y="1225118"/>
            <a:ext cx="7752422" cy="3613211"/>
          </a:xfrm>
          <a:prstGeom prst="rect">
            <a:avLst/>
          </a:prstGeom>
        </p:spPr>
      </p:pic>
      <p:sp>
        <p:nvSpPr>
          <p:cNvPr id="5" name="CuadroTexto 4">
            <a:extLst>
              <a:ext uri="{FF2B5EF4-FFF2-40B4-BE49-F238E27FC236}">
                <a16:creationId xmlns:a16="http://schemas.microsoft.com/office/drawing/2014/main" id="{505B7162-28FE-A0EB-C153-157875E86C73}"/>
              </a:ext>
            </a:extLst>
          </p:cNvPr>
          <p:cNvSpPr txBox="1"/>
          <p:nvPr/>
        </p:nvSpPr>
        <p:spPr>
          <a:xfrm>
            <a:off x="1589288" y="4954097"/>
            <a:ext cx="6228693" cy="369332"/>
          </a:xfrm>
          <a:prstGeom prst="rect">
            <a:avLst/>
          </a:prstGeom>
          <a:noFill/>
        </p:spPr>
        <p:txBody>
          <a:bodyPr wrap="none" rtlCol="0">
            <a:spAutoFit/>
          </a:bodyPr>
          <a:lstStyle/>
          <a:p>
            <a:r>
              <a:rPr lang="es-MX" i="1" dirty="0"/>
              <a:t>Ejemplo Búsqueda  – Ubicación de Perforación N°17-2265 en Qgis</a:t>
            </a:r>
            <a:endParaRPr lang="es-AR" i="1" dirty="0"/>
          </a:p>
        </p:txBody>
      </p:sp>
    </p:spTree>
    <p:extLst>
      <p:ext uri="{BB962C8B-B14F-4D97-AF65-F5344CB8AC3E}">
        <p14:creationId xmlns:p14="http://schemas.microsoft.com/office/powerpoint/2010/main" val="1499685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4EC8CE8-416D-01E0-DD51-8FB8C5CAF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859" y="1029810"/>
            <a:ext cx="7500885" cy="3497802"/>
          </a:xfrm>
          <a:prstGeom prst="rect">
            <a:avLst/>
          </a:prstGeom>
        </p:spPr>
      </p:pic>
      <p:sp>
        <p:nvSpPr>
          <p:cNvPr id="7" name="CuadroTexto 6">
            <a:extLst>
              <a:ext uri="{FF2B5EF4-FFF2-40B4-BE49-F238E27FC236}">
                <a16:creationId xmlns:a16="http://schemas.microsoft.com/office/drawing/2014/main" id="{6B4834E5-2249-6B21-D13E-FFB796DF8B02}"/>
              </a:ext>
            </a:extLst>
          </p:cNvPr>
          <p:cNvSpPr txBox="1"/>
          <p:nvPr/>
        </p:nvSpPr>
        <p:spPr>
          <a:xfrm>
            <a:off x="744008" y="4589756"/>
            <a:ext cx="8728465" cy="369332"/>
          </a:xfrm>
          <a:prstGeom prst="rect">
            <a:avLst/>
          </a:prstGeom>
          <a:noFill/>
        </p:spPr>
        <p:txBody>
          <a:bodyPr wrap="square">
            <a:spAutoFit/>
          </a:bodyPr>
          <a:lstStyle/>
          <a:p>
            <a:r>
              <a:rPr lang="es-MX" dirty="0"/>
              <a:t>Ejemplo Búsqueda por Nomenclatura Catastral “17-03-01-0121-000001-8” en Qgis.</a:t>
            </a:r>
          </a:p>
        </p:txBody>
      </p:sp>
    </p:spTree>
    <p:extLst>
      <p:ext uri="{BB962C8B-B14F-4D97-AF65-F5344CB8AC3E}">
        <p14:creationId xmlns:p14="http://schemas.microsoft.com/office/powerpoint/2010/main" val="260628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1E5F91F-752A-1B5D-7F2A-E892E4DE1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788" y="861133"/>
            <a:ext cx="7624019" cy="3872009"/>
          </a:xfrm>
          <a:prstGeom prst="rect">
            <a:avLst/>
          </a:prstGeom>
        </p:spPr>
      </p:pic>
      <p:sp>
        <p:nvSpPr>
          <p:cNvPr id="5" name="CuadroTexto 4">
            <a:extLst>
              <a:ext uri="{FF2B5EF4-FFF2-40B4-BE49-F238E27FC236}">
                <a16:creationId xmlns:a16="http://schemas.microsoft.com/office/drawing/2014/main" id="{430CE7F4-1DFE-18A7-C899-5AD2D78004F3}"/>
              </a:ext>
            </a:extLst>
          </p:cNvPr>
          <p:cNvSpPr txBox="1"/>
          <p:nvPr/>
        </p:nvSpPr>
        <p:spPr>
          <a:xfrm>
            <a:off x="1535836" y="4856955"/>
            <a:ext cx="5841507" cy="646331"/>
          </a:xfrm>
          <a:prstGeom prst="rect">
            <a:avLst/>
          </a:prstGeom>
          <a:noFill/>
        </p:spPr>
        <p:txBody>
          <a:bodyPr wrap="square">
            <a:spAutoFit/>
          </a:bodyPr>
          <a:lstStyle/>
          <a:p>
            <a:pPr algn="ctr"/>
            <a:r>
              <a:rPr lang="es-MX" dirty="0"/>
              <a:t>Ejemplo Búsqueda por Código Superficial “C.C.4013 P.P.361” Qgis</a:t>
            </a:r>
          </a:p>
        </p:txBody>
      </p:sp>
    </p:spTree>
    <p:extLst>
      <p:ext uri="{BB962C8B-B14F-4D97-AF65-F5344CB8AC3E}">
        <p14:creationId xmlns:p14="http://schemas.microsoft.com/office/powerpoint/2010/main" val="797935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68B711D-B1B6-3F21-CF77-88257D8DBF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888" y="795813"/>
            <a:ext cx="7688061" cy="3890199"/>
          </a:xfrm>
          <a:prstGeom prst="rect">
            <a:avLst/>
          </a:prstGeom>
        </p:spPr>
      </p:pic>
      <p:sp>
        <p:nvSpPr>
          <p:cNvPr id="5" name="CuadroTexto 4">
            <a:extLst>
              <a:ext uri="{FF2B5EF4-FFF2-40B4-BE49-F238E27FC236}">
                <a16:creationId xmlns:a16="http://schemas.microsoft.com/office/drawing/2014/main" id="{07642430-46DD-582A-D8AC-DB28B02A6008}"/>
              </a:ext>
            </a:extLst>
          </p:cNvPr>
          <p:cNvSpPr txBox="1"/>
          <p:nvPr/>
        </p:nvSpPr>
        <p:spPr>
          <a:xfrm>
            <a:off x="2077374" y="4892465"/>
            <a:ext cx="5708341" cy="646331"/>
          </a:xfrm>
          <a:prstGeom prst="rect">
            <a:avLst/>
          </a:prstGeom>
          <a:noFill/>
        </p:spPr>
        <p:txBody>
          <a:bodyPr wrap="square">
            <a:spAutoFit/>
          </a:bodyPr>
          <a:lstStyle/>
          <a:p>
            <a:pPr algn="ctr"/>
            <a:r>
              <a:rPr lang="es-MX" dirty="0"/>
              <a:t>Ejemplo Búsqueda por Código Superficial “C.C.4013 P.P.361” Google Earth Pro</a:t>
            </a:r>
          </a:p>
        </p:txBody>
      </p:sp>
    </p:spTree>
    <p:extLst>
      <p:ext uri="{BB962C8B-B14F-4D97-AF65-F5344CB8AC3E}">
        <p14:creationId xmlns:p14="http://schemas.microsoft.com/office/powerpoint/2010/main" val="2826781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7A4EB-54EE-F67F-C7B3-03201430C25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7493C43-A045-CC45-7A72-847175979BC6}"/>
              </a:ext>
            </a:extLst>
          </p:cNvPr>
          <p:cNvSpPr txBox="1"/>
          <p:nvPr/>
        </p:nvSpPr>
        <p:spPr>
          <a:xfrm>
            <a:off x="2077374" y="4927976"/>
            <a:ext cx="5708341" cy="369332"/>
          </a:xfrm>
          <a:prstGeom prst="rect">
            <a:avLst/>
          </a:prstGeom>
          <a:noFill/>
        </p:spPr>
        <p:txBody>
          <a:bodyPr wrap="square">
            <a:spAutoFit/>
          </a:bodyPr>
          <a:lstStyle/>
          <a:p>
            <a:pPr algn="ctr"/>
            <a:r>
              <a:rPr lang="es-MX" dirty="0"/>
              <a:t>Pozos Medidos Con Éxito año – 2025 Google Earth Pro </a:t>
            </a:r>
          </a:p>
        </p:txBody>
      </p:sp>
      <p:pic>
        <p:nvPicPr>
          <p:cNvPr id="4" name="Imagen 3">
            <a:extLst>
              <a:ext uri="{FF2B5EF4-FFF2-40B4-BE49-F238E27FC236}">
                <a16:creationId xmlns:a16="http://schemas.microsoft.com/office/drawing/2014/main" id="{0A7FDD92-CBE5-3AA6-A2E0-39E001FCC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076" y="617368"/>
            <a:ext cx="7386222" cy="4000870"/>
          </a:xfrm>
          <a:prstGeom prst="rect">
            <a:avLst/>
          </a:prstGeom>
        </p:spPr>
      </p:pic>
    </p:spTree>
    <p:extLst>
      <p:ext uri="{BB962C8B-B14F-4D97-AF65-F5344CB8AC3E}">
        <p14:creationId xmlns:p14="http://schemas.microsoft.com/office/powerpoint/2010/main" val="1630430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FA4932D-74F8-EFEF-D287-AFC95E02F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4299" y="711730"/>
            <a:ext cx="6355761" cy="2717270"/>
          </a:xfrm>
          <a:prstGeom prst="rect">
            <a:avLst/>
          </a:prstGeom>
        </p:spPr>
      </p:pic>
      <p:sp>
        <p:nvSpPr>
          <p:cNvPr id="9" name="CuadroTexto 8">
            <a:extLst>
              <a:ext uri="{FF2B5EF4-FFF2-40B4-BE49-F238E27FC236}">
                <a16:creationId xmlns:a16="http://schemas.microsoft.com/office/drawing/2014/main" id="{F99B0CF7-26C7-9204-1DB1-791E88AEA390}"/>
              </a:ext>
            </a:extLst>
          </p:cNvPr>
          <p:cNvSpPr txBox="1"/>
          <p:nvPr/>
        </p:nvSpPr>
        <p:spPr>
          <a:xfrm>
            <a:off x="2166152" y="302712"/>
            <a:ext cx="4580876" cy="369332"/>
          </a:xfrm>
          <a:prstGeom prst="rect">
            <a:avLst/>
          </a:prstGeom>
          <a:noFill/>
        </p:spPr>
        <p:txBody>
          <a:bodyPr wrap="square">
            <a:spAutoFit/>
          </a:bodyPr>
          <a:lstStyle/>
          <a:p>
            <a:pPr algn="ctr"/>
            <a:r>
              <a:rPr lang="es-MX" dirty="0"/>
              <a:t>Ejemplo de Perforaciones Agregadas</a:t>
            </a:r>
          </a:p>
        </p:txBody>
      </p:sp>
      <p:pic>
        <p:nvPicPr>
          <p:cNvPr id="11" name="Imagen 10">
            <a:extLst>
              <a:ext uri="{FF2B5EF4-FFF2-40B4-BE49-F238E27FC236}">
                <a16:creationId xmlns:a16="http://schemas.microsoft.com/office/drawing/2014/main" id="{0CE0BE8F-B03A-C9ED-B8BA-C38E91C38468}"/>
              </a:ext>
            </a:extLst>
          </p:cNvPr>
          <p:cNvPicPr>
            <a:picLocks noChangeAspect="1"/>
          </p:cNvPicPr>
          <p:nvPr/>
        </p:nvPicPr>
        <p:blipFill>
          <a:blip r:embed="rId3">
            <a:extLst>
              <a:ext uri="{28A0092B-C50C-407E-A947-70E740481C1C}">
                <a14:useLocalDpi xmlns:a14="http://schemas.microsoft.com/office/drawing/2010/main" val="0"/>
              </a:ext>
            </a:extLst>
          </a:blip>
          <a:srcRect t="2768" r="25441" b="11815"/>
          <a:stretch>
            <a:fillRect/>
          </a:stretch>
        </p:blipFill>
        <p:spPr>
          <a:xfrm>
            <a:off x="0" y="3728621"/>
            <a:ext cx="4181383" cy="2417649"/>
          </a:xfrm>
          <a:prstGeom prst="rect">
            <a:avLst/>
          </a:prstGeom>
        </p:spPr>
      </p:pic>
      <p:pic>
        <p:nvPicPr>
          <p:cNvPr id="13" name="Imagen 12">
            <a:extLst>
              <a:ext uri="{FF2B5EF4-FFF2-40B4-BE49-F238E27FC236}">
                <a16:creationId xmlns:a16="http://schemas.microsoft.com/office/drawing/2014/main" id="{59D16E56-ED9F-BC5C-7EB7-A3698F83E1CF}"/>
              </a:ext>
            </a:extLst>
          </p:cNvPr>
          <p:cNvPicPr>
            <a:picLocks noChangeAspect="1"/>
          </p:cNvPicPr>
          <p:nvPr/>
        </p:nvPicPr>
        <p:blipFill>
          <a:blip r:embed="rId4">
            <a:extLst>
              <a:ext uri="{28A0092B-C50C-407E-A947-70E740481C1C}">
                <a14:useLocalDpi xmlns:a14="http://schemas.microsoft.com/office/drawing/2010/main" val="0"/>
              </a:ext>
            </a:extLst>
          </a:blip>
          <a:srcRect r="8507"/>
          <a:stretch>
            <a:fillRect/>
          </a:stretch>
        </p:blipFill>
        <p:spPr>
          <a:xfrm>
            <a:off x="4421080" y="3728619"/>
            <a:ext cx="4545366" cy="2456025"/>
          </a:xfrm>
          <a:prstGeom prst="rect">
            <a:avLst/>
          </a:prstGeom>
        </p:spPr>
      </p:pic>
      <p:sp>
        <p:nvSpPr>
          <p:cNvPr id="15" name="CuadroTexto 14">
            <a:extLst>
              <a:ext uri="{FF2B5EF4-FFF2-40B4-BE49-F238E27FC236}">
                <a16:creationId xmlns:a16="http://schemas.microsoft.com/office/drawing/2014/main" id="{ABDF8703-C805-2749-0767-146D255C0923}"/>
              </a:ext>
            </a:extLst>
          </p:cNvPr>
          <p:cNvSpPr txBox="1"/>
          <p:nvPr/>
        </p:nvSpPr>
        <p:spPr>
          <a:xfrm>
            <a:off x="1793289" y="6184644"/>
            <a:ext cx="4580876" cy="646331"/>
          </a:xfrm>
          <a:prstGeom prst="rect">
            <a:avLst/>
          </a:prstGeom>
          <a:noFill/>
        </p:spPr>
        <p:txBody>
          <a:bodyPr wrap="square">
            <a:spAutoFit/>
          </a:bodyPr>
          <a:lstStyle/>
          <a:p>
            <a:pPr algn="ctr"/>
            <a:r>
              <a:rPr lang="es-MX" dirty="0"/>
              <a:t>Ejemplos de Perforaciones de  formas de agregar un nueva perforación</a:t>
            </a:r>
          </a:p>
        </p:txBody>
      </p:sp>
    </p:spTree>
    <p:extLst>
      <p:ext uri="{BB962C8B-B14F-4D97-AF65-F5344CB8AC3E}">
        <p14:creationId xmlns:p14="http://schemas.microsoft.com/office/powerpoint/2010/main" val="4159654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18E5E16-AD3B-E5D5-D94F-4BB1ECE434B1}"/>
              </a:ext>
            </a:extLst>
          </p:cNvPr>
          <p:cNvSpPr txBox="1"/>
          <p:nvPr/>
        </p:nvSpPr>
        <p:spPr>
          <a:xfrm>
            <a:off x="2219418" y="1399927"/>
            <a:ext cx="4580876" cy="4328364"/>
          </a:xfrm>
          <a:prstGeom prst="rect">
            <a:avLst/>
          </a:prstGeom>
          <a:noFill/>
        </p:spPr>
        <p:txBody>
          <a:bodyPr wrap="square">
            <a:spAutoFit/>
          </a:bodyPr>
          <a:lstStyle/>
          <a:p>
            <a:pPr>
              <a:lnSpc>
                <a:spcPct val="107000"/>
              </a:lnSpc>
              <a:spcAft>
                <a:spcPts val="800"/>
              </a:spcAft>
              <a:buNone/>
            </a:pPr>
            <a:r>
              <a:rPr lang="es-AR" sz="1800" dirty="0">
                <a:effectLst/>
                <a:latin typeface="Lato" panose="020F0502020204030203" pitchFamily="34" charset="0"/>
                <a:ea typeface="Lato" panose="020F0502020204030203" pitchFamily="34" charset="0"/>
                <a:cs typeface="Lato" panose="020F0502020204030203" pitchFamily="34" charset="0"/>
              </a:rPr>
              <a:t> </a:t>
            </a:r>
            <a:endParaRPr lang="es-AR" sz="1800" dirty="0">
              <a:effectLst/>
              <a:latin typeface="Calibri" panose="020F0502020204030204" pitchFamily="34" charset="0"/>
              <a:ea typeface="Calibri" panose="020F0502020204030204" pitchFamily="34" charset="0"/>
            </a:endParaRPr>
          </a:p>
          <a:p>
            <a:pPr marL="342900" lvl="0" indent="-342900">
              <a:lnSpc>
                <a:spcPct val="107000"/>
              </a:lnSpc>
              <a:buFont typeface="+mj-lt"/>
              <a:buAutoNum type="arabicPeriod"/>
            </a:pPr>
            <a:r>
              <a:rPr lang="es-AR" sz="1800" b="1" dirty="0">
                <a:solidFill>
                  <a:srgbClr val="002060"/>
                </a:solidFill>
                <a:effectLst/>
                <a:latin typeface="Lato" panose="020F0502020204030203" pitchFamily="34" charset="0"/>
                <a:ea typeface="Lato" panose="020F0502020204030203" pitchFamily="34" charset="0"/>
                <a:cs typeface="Lato" panose="020F0502020204030203" pitchFamily="34" charset="0"/>
              </a:rPr>
              <a:t>Renombrado:</a:t>
            </a:r>
            <a:r>
              <a:rPr lang="es-AR" sz="1800" dirty="0">
                <a:solidFill>
                  <a:srgbClr val="002060"/>
                </a:solidFill>
                <a:effectLst/>
                <a:latin typeface="Lato" panose="020F0502020204030203" pitchFamily="34" charset="0"/>
                <a:ea typeface="Lato" panose="020F0502020204030203" pitchFamily="34" charset="0"/>
                <a:cs typeface="Lato" panose="020F0502020204030203" pitchFamily="34" charset="0"/>
              </a:rPr>
              <a:t> La extensión del archivo descargado se cambia de `.KMZ` o `.KML` a `.ZIP`.</a:t>
            </a:r>
            <a:endParaRPr lang="es-AR" sz="18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buFont typeface="+mj-lt"/>
              <a:buAutoNum type="arabicPeriod"/>
            </a:pPr>
            <a:r>
              <a:rPr lang="es-AR" sz="1800" b="1" dirty="0">
                <a:solidFill>
                  <a:srgbClr val="002060"/>
                </a:solidFill>
                <a:effectLst/>
                <a:latin typeface="Lato" panose="020F0502020204030203" pitchFamily="34" charset="0"/>
                <a:ea typeface="Lato" panose="020F0502020204030203" pitchFamily="34" charset="0"/>
                <a:cs typeface="Lato" panose="020F0502020204030203" pitchFamily="34" charset="0"/>
              </a:rPr>
              <a:t>Acceso:</a:t>
            </a:r>
            <a:r>
              <a:rPr lang="es-AR" sz="1800" dirty="0">
                <a:solidFill>
                  <a:srgbClr val="002060"/>
                </a:solidFill>
                <a:effectLst/>
                <a:latin typeface="Lato" panose="020F0502020204030203" pitchFamily="34" charset="0"/>
                <a:ea typeface="Lato" panose="020F0502020204030203" pitchFamily="34" charset="0"/>
                <a:cs typeface="Lato" panose="020F0502020204030203" pitchFamily="34" charset="0"/>
              </a:rPr>
              <a:t> Se accede al archivo clave `doc.kml` que se encuentra en su interior.</a:t>
            </a:r>
            <a:endParaRPr lang="es-AR" sz="18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buFont typeface="+mj-lt"/>
              <a:buAutoNum type="arabicPeriod"/>
            </a:pPr>
            <a:r>
              <a:rPr lang="es-AR" sz="1800" b="1" dirty="0">
                <a:solidFill>
                  <a:srgbClr val="002060"/>
                </a:solidFill>
                <a:effectLst/>
                <a:latin typeface="Lato" panose="020F0502020204030203" pitchFamily="34" charset="0"/>
                <a:ea typeface="Lato" panose="020F0502020204030203" pitchFamily="34" charset="0"/>
                <a:cs typeface="Lato" panose="020F0502020204030203" pitchFamily="34" charset="0"/>
              </a:rPr>
              <a:t>Edición Masiva con Python:</a:t>
            </a:r>
            <a:r>
              <a:rPr lang="es-AR" sz="1800" dirty="0">
                <a:solidFill>
                  <a:srgbClr val="002060"/>
                </a:solidFill>
                <a:effectLst/>
                <a:latin typeface="Lato" panose="020F0502020204030203" pitchFamily="34" charset="0"/>
                <a:ea typeface="Lato" panose="020F0502020204030203" pitchFamily="34" charset="0"/>
                <a:cs typeface="Lato" panose="020F0502020204030203" pitchFamily="34" charset="0"/>
              </a:rPr>
              <a:t> El script de Python lee el `doc.kml` y procede a la edición masiva y automática de las propiedades de los objetos.</a:t>
            </a:r>
            <a:endParaRPr lang="es-AR" sz="18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pPr>
            <a:r>
              <a:rPr lang="es-AR" sz="1800" b="1" dirty="0">
                <a:solidFill>
                  <a:srgbClr val="002060"/>
                </a:solidFill>
                <a:effectLst/>
                <a:latin typeface="Lato" panose="020F0502020204030203" pitchFamily="34" charset="0"/>
                <a:ea typeface="Lato" panose="020F0502020204030203" pitchFamily="34" charset="0"/>
                <a:cs typeface="Lato" panose="020F0502020204030203" pitchFamily="34" charset="0"/>
              </a:rPr>
              <a:t>Reempaquetado:</a:t>
            </a:r>
            <a:r>
              <a:rPr lang="es-AR" sz="1800" dirty="0">
                <a:solidFill>
                  <a:srgbClr val="002060"/>
                </a:solidFill>
                <a:effectLst/>
                <a:latin typeface="Lato" panose="020F0502020204030203" pitchFamily="34" charset="0"/>
                <a:ea typeface="Lato" panose="020F0502020204030203" pitchFamily="34" charset="0"/>
                <a:cs typeface="Lato" panose="020F0502020204030203" pitchFamily="34" charset="0"/>
              </a:rPr>
              <a:t> El archivo modificado se vuelve a comprimir y se renombra a `.KMZ`, creando una capa optimizada.</a:t>
            </a:r>
            <a:endParaRPr lang="es-AR" sz="1800" dirty="0">
              <a:solidFill>
                <a:srgbClr val="002060"/>
              </a:solidFill>
              <a:effectLst/>
              <a:latin typeface="Calibri" panose="020F0502020204030204" pitchFamily="34" charset="0"/>
              <a:ea typeface="Calibri" panose="020F0502020204030204" pitchFamily="34" charset="0"/>
            </a:endParaRPr>
          </a:p>
        </p:txBody>
      </p:sp>
      <p:sp>
        <p:nvSpPr>
          <p:cNvPr id="6" name="CuadroTexto 5">
            <a:extLst>
              <a:ext uri="{FF2B5EF4-FFF2-40B4-BE49-F238E27FC236}">
                <a16:creationId xmlns:a16="http://schemas.microsoft.com/office/drawing/2014/main" id="{A054A0EF-76EF-089D-FA6B-9C4F0AF44AEA}"/>
              </a:ext>
            </a:extLst>
          </p:cNvPr>
          <p:cNvSpPr txBox="1"/>
          <p:nvPr/>
        </p:nvSpPr>
        <p:spPr>
          <a:xfrm>
            <a:off x="2219418" y="1056443"/>
            <a:ext cx="4918229" cy="1200200"/>
          </a:xfrm>
          <a:prstGeom prst="rect">
            <a:avLst/>
          </a:prstGeom>
          <a:noFill/>
        </p:spPr>
        <p:txBody>
          <a:bodyPr wrap="square" rtlCol="0">
            <a:spAutoFit/>
          </a:bodyPr>
          <a:lstStyle/>
          <a:p>
            <a:pPr>
              <a:lnSpc>
                <a:spcPct val="107000"/>
              </a:lnSpc>
              <a:spcAft>
                <a:spcPts val="800"/>
              </a:spcAft>
              <a:buNone/>
            </a:pPr>
            <a:r>
              <a:rPr lang="es-AR" sz="2000" b="1" dirty="0">
                <a:latin typeface="Lato" panose="020F0502020204030203" pitchFamily="34" charset="0"/>
                <a:ea typeface="Lato" panose="020F0502020204030203" pitchFamily="34" charset="0"/>
                <a:cs typeface="Lato" panose="020F0502020204030203" pitchFamily="34" charset="0"/>
              </a:rPr>
              <a:t>Proceso Técnico a cambios de Capas </a:t>
            </a:r>
            <a:endParaRPr lang="es-AR" dirty="0">
              <a:latin typeface="Calibri" panose="020F0502020204030204" pitchFamily="34" charset="0"/>
              <a:ea typeface="Calibri" panose="020F0502020204030204" pitchFamily="34" charset="0"/>
            </a:endParaRPr>
          </a:p>
          <a:p>
            <a:pPr>
              <a:lnSpc>
                <a:spcPct val="107000"/>
              </a:lnSpc>
              <a:spcAft>
                <a:spcPts val="800"/>
              </a:spcAft>
              <a:buNone/>
            </a:pPr>
            <a:r>
              <a:rPr lang="es-AR" dirty="0">
                <a:latin typeface="Lato" panose="020F0502020204030203" pitchFamily="34" charset="0"/>
                <a:ea typeface="Lato" panose="020F0502020204030203" pitchFamily="34" charset="0"/>
                <a:cs typeface="Lato" panose="020F0502020204030203" pitchFamily="34" charset="0"/>
              </a:rPr>
              <a:t> </a:t>
            </a:r>
            <a:endParaRPr lang="es-AR" dirty="0">
              <a:latin typeface="Calibri" panose="020F0502020204030204" pitchFamily="34" charset="0"/>
              <a:ea typeface="Calibri" panose="020F0502020204030204" pitchFamily="34" charset="0"/>
            </a:endParaRPr>
          </a:p>
          <a:p>
            <a:endParaRPr lang="es-AR" dirty="0"/>
          </a:p>
        </p:txBody>
      </p:sp>
    </p:spTree>
    <p:extLst>
      <p:ext uri="{BB962C8B-B14F-4D97-AF65-F5344CB8AC3E}">
        <p14:creationId xmlns:p14="http://schemas.microsoft.com/office/powerpoint/2010/main" val="506309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EB602F-55EF-3781-EEBB-E3D232773413}"/>
              </a:ext>
            </a:extLst>
          </p:cNvPr>
          <p:cNvPicPr>
            <a:picLocks noChangeAspect="1"/>
          </p:cNvPicPr>
          <p:nvPr/>
        </p:nvPicPr>
        <p:blipFill>
          <a:blip r:embed="rId2"/>
          <a:stretch>
            <a:fillRect/>
          </a:stretch>
        </p:blipFill>
        <p:spPr>
          <a:xfrm>
            <a:off x="835148" y="1429305"/>
            <a:ext cx="7651904" cy="4011562"/>
          </a:xfrm>
          <a:prstGeom prst="rect">
            <a:avLst/>
          </a:prstGeom>
        </p:spPr>
      </p:pic>
      <p:sp>
        <p:nvSpPr>
          <p:cNvPr id="4" name="CuadroTexto 3">
            <a:extLst>
              <a:ext uri="{FF2B5EF4-FFF2-40B4-BE49-F238E27FC236}">
                <a16:creationId xmlns:a16="http://schemas.microsoft.com/office/drawing/2014/main" id="{F19E4B15-2962-04AF-B7F0-100B0FC1FF32}"/>
              </a:ext>
            </a:extLst>
          </p:cNvPr>
          <p:cNvSpPr txBox="1"/>
          <p:nvPr/>
        </p:nvSpPr>
        <p:spPr>
          <a:xfrm>
            <a:off x="2872337" y="630315"/>
            <a:ext cx="3554306" cy="369332"/>
          </a:xfrm>
          <a:prstGeom prst="rect">
            <a:avLst/>
          </a:prstGeom>
          <a:noFill/>
        </p:spPr>
        <p:txBody>
          <a:bodyPr wrap="none" rtlCol="0">
            <a:spAutoFit/>
          </a:bodyPr>
          <a:lstStyle/>
          <a:p>
            <a:r>
              <a:rPr lang="es-MX" dirty="0"/>
              <a:t>Cambios a Capas- Pozos San Rafael</a:t>
            </a:r>
            <a:endParaRPr lang="es-AR" dirty="0"/>
          </a:p>
        </p:txBody>
      </p:sp>
    </p:spTree>
    <p:extLst>
      <p:ext uri="{BB962C8B-B14F-4D97-AF65-F5344CB8AC3E}">
        <p14:creationId xmlns:p14="http://schemas.microsoft.com/office/powerpoint/2010/main" val="1137857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BC400-A62D-D95B-BDDE-86B9F8C601E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2145BCD0-6926-86B2-FF2D-0835D1B2C7CD}"/>
              </a:ext>
            </a:extLst>
          </p:cNvPr>
          <p:cNvSpPr txBox="1"/>
          <p:nvPr/>
        </p:nvSpPr>
        <p:spPr>
          <a:xfrm>
            <a:off x="3032135" y="692459"/>
            <a:ext cx="3554306" cy="369332"/>
          </a:xfrm>
          <a:prstGeom prst="rect">
            <a:avLst/>
          </a:prstGeom>
          <a:noFill/>
        </p:spPr>
        <p:txBody>
          <a:bodyPr wrap="none" rtlCol="0">
            <a:spAutoFit/>
          </a:bodyPr>
          <a:lstStyle/>
          <a:p>
            <a:r>
              <a:rPr lang="es-MX" dirty="0"/>
              <a:t>Cambios a Capas- Pozos San Rafael</a:t>
            </a:r>
            <a:endParaRPr lang="es-AR" dirty="0"/>
          </a:p>
        </p:txBody>
      </p:sp>
      <p:pic>
        <p:nvPicPr>
          <p:cNvPr id="5" name="Imagen 4">
            <a:extLst>
              <a:ext uri="{FF2B5EF4-FFF2-40B4-BE49-F238E27FC236}">
                <a16:creationId xmlns:a16="http://schemas.microsoft.com/office/drawing/2014/main" id="{90E7A50B-D1ED-22B1-6AA6-5FCD8F4AE2FF}"/>
              </a:ext>
            </a:extLst>
          </p:cNvPr>
          <p:cNvPicPr>
            <a:picLocks noChangeAspect="1"/>
          </p:cNvPicPr>
          <p:nvPr/>
        </p:nvPicPr>
        <p:blipFill>
          <a:blip r:embed="rId2"/>
          <a:stretch>
            <a:fillRect/>
          </a:stretch>
        </p:blipFill>
        <p:spPr>
          <a:xfrm>
            <a:off x="1020790" y="1335182"/>
            <a:ext cx="7333097" cy="4602440"/>
          </a:xfrm>
          <a:prstGeom prst="rect">
            <a:avLst/>
          </a:prstGeom>
        </p:spPr>
      </p:pic>
    </p:spTree>
    <p:extLst>
      <p:ext uri="{BB962C8B-B14F-4D97-AF65-F5344CB8AC3E}">
        <p14:creationId xmlns:p14="http://schemas.microsoft.com/office/powerpoint/2010/main" val="2941088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C6750-7813-24C1-189A-2240D99B5BB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D8B3898-D3BF-F77F-2F8A-798B998DF0B0}"/>
              </a:ext>
            </a:extLst>
          </p:cNvPr>
          <p:cNvSpPr txBox="1"/>
          <p:nvPr/>
        </p:nvSpPr>
        <p:spPr>
          <a:xfrm>
            <a:off x="2794847" y="630315"/>
            <a:ext cx="3554306" cy="369332"/>
          </a:xfrm>
          <a:prstGeom prst="rect">
            <a:avLst/>
          </a:prstGeom>
          <a:noFill/>
        </p:spPr>
        <p:txBody>
          <a:bodyPr wrap="none" rtlCol="0">
            <a:spAutoFit/>
          </a:bodyPr>
          <a:lstStyle/>
          <a:p>
            <a:r>
              <a:rPr lang="es-MX" dirty="0"/>
              <a:t>Cambios a Capas- Pozos San Rafael</a:t>
            </a:r>
            <a:endParaRPr lang="es-AR" dirty="0"/>
          </a:p>
        </p:txBody>
      </p:sp>
      <p:pic>
        <p:nvPicPr>
          <p:cNvPr id="3" name="Imagen 2">
            <a:extLst>
              <a:ext uri="{FF2B5EF4-FFF2-40B4-BE49-F238E27FC236}">
                <a16:creationId xmlns:a16="http://schemas.microsoft.com/office/drawing/2014/main" id="{513AF06A-0667-5A65-AD20-2C9D7CFAE959}"/>
              </a:ext>
            </a:extLst>
          </p:cNvPr>
          <p:cNvPicPr>
            <a:picLocks noChangeAspect="1"/>
          </p:cNvPicPr>
          <p:nvPr/>
        </p:nvPicPr>
        <p:blipFill>
          <a:blip r:embed="rId2"/>
          <a:stretch>
            <a:fillRect/>
          </a:stretch>
        </p:blipFill>
        <p:spPr>
          <a:xfrm>
            <a:off x="1657429" y="1115057"/>
            <a:ext cx="5829141" cy="4817964"/>
          </a:xfrm>
          <a:prstGeom prst="rect">
            <a:avLst/>
          </a:prstGeom>
        </p:spPr>
      </p:pic>
    </p:spTree>
    <p:extLst>
      <p:ext uri="{BB962C8B-B14F-4D97-AF65-F5344CB8AC3E}">
        <p14:creationId xmlns:p14="http://schemas.microsoft.com/office/powerpoint/2010/main" val="1500733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08C7617-8448-43DA-BC30-63FD13F7BCF4}"/>
              </a:ext>
            </a:extLst>
          </p:cNvPr>
          <p:cNvSpPr txBox="1"/>
          <p:nvPr/>
        </p:nvSpPr>
        <p:spPr>
          <a:xfrm>
            <a:off x="1429305" y="725295"/>
            <a:ext cx="10093910" cy="1077218"/>
          </a:xfrm>
          <a:prstGeom prst="rect">
            <a:avLst/>
          </a:prstGeom>
          <a:noFill/>
        </p:spPr>
        <p:txBody>
          <a:bodyPr wrap="square">
            <a:spAutoFit/>
          </a:bodyPr>
          <a:lstStyle/>
          <a:p>
            <a:r>
              <a:rPr lang="es-MX" sz="4000" dirty="0"/>
              <a:t>Usos Prácticos </a:t>
            </a:r>
          </a:p>
          <a:p>
            <a:r>
              <a:rPr lang="es-MX" sz="2400" dirty="0">
                <a:solidFill>
                  <a:srgbClr val="FF0000"/>
                </a:solidFill>
              </a:rPr>
              <a:t>Envió de Correo Automático</a:t>
            </a:r>
            <a:endParaRPr lang="es-AR" sz="2400" dirty="0">
              <a:solidFill>
                <a:srgbClr val="FF0000"/>
              </a:solidFill>
            </a:endParaRPr>
          </a:p>
        </p:txBody>
      </p:sp>
      <p:sp>
        <p:nvSpPr>
          <p:cNvPr id="5" name="CuadroTexto 4">
            <a:extLst>
              <a:ext uri="{FF2B5EF4-FFF2-40B4-BE49-F238E27FC236}">
                <a16:creationId xmlns:a16="http://schemas.microsoft.com/office/drawing/2014/main" id="{EC6B9E30-D0AC-BC0E-A4F3-F663FF28FB4B}"/>
              </a:ext>
            </a:extLst>
          </p:cNvPr>
          <p:cNvSpPr txBox="1"/>
          <p:nvPr/>
        </p:nvSpPr>
        <p:spPr>
          <a:xfrm>
            <a:off x="1429305" y="1998307"/>
            <a:ext cx="5770484" cy="3139321"/>
          </a:xfrm>
          <a:prstGeom prst="rect">
            <a:avLst/>
          </a:prstGeom>
          <a:noFill/>
        </p:spPr>
        <p:txBody>
          <a:bodyPr wrap="square">
            <a:spAutoFit/>
          </a:bodyPr>
          <a:lstStyle/>
          <a:p>
            <a:pPr marL="285750" indent="-285750">
              <a:buFont typeface="Arial" panose="020B0604020202020204" pitchFamily="34" charset="0"/>
              <a:buChar char="•"/>
            </a:pPr>
            <a:r>
              <a:rPr lang="es-MX" b="1" dirty="0">
                <a:solidFill>
                  <a:schemeClr val="accent5">
                    <a:lumMod val="10000"/>
                  </a:schemeClr>
                </a:solidFill>
              </a:rPr>
              <a:t>Envió Automático de correos tomando fechas de vencimiento  </a:t>
            </a:r>
          </a:p>
          <a:p>
            <a:pPr marL="285750" indent="-285750">
              <a:buFont typeface="Arial" panose="020B0604020202020204" pitchFamily="34" charset="0"/>
              <a:buChar char="•"/>
            </a:pPr>
            <a:r>
              <a:rPr lang="es-MX" b="1" dirty="0">
                <a:solidFill>
                  <a:schemeClr val="accent5">
                    <a:lumMod val="10000"/>
                  </a:schemeClr>
                </a:solidFill>
              </a:rPr>
              <a:t>Eliminar una tarea de control , para que funcione de forma automática generando un aviso al usuario  y al empleado de irrigación sobre las fechas de vencimiento de los cheques de cegado.</a:t>
            </a:r>
          </a:p>
          <a:p>
            <a:pPr marL="285750" indent="-285750">
              <a:buFont typeface="Arial" panose="020B0604020202020204" pitchFamily="34" charset="0"/>
              <a:buChar char="•"/>
            </a:pPr>
            <a:r>
              <a:rPr lang="es-MX" b="1" dirty="0">
                <a:solidFill>
                  <a:schemeClr val="accent5">
                    <a:lumMod val="10000"/>
                  </a:schemeClr>
                </a:solidFill>
              </a:rPr>
              <a:t>Control mas seguro y sencillo en un área donde las fechas de caducidad impactan directamente sobre el bolsillo del cliente y la responsabilidad del ente regulador </a:t>
            </a:r>
          </a:p>
          <a:p>
            <a:pPr marL="285750" indent="-285750">
              <a:buFont typeface="Arial" panose="020B0604020202020204" pitchFamily="34" charset="0"/>
              <a:buChar char="•"/>
            </a:pPr>
            <a:endParaRPr lang="es-AR" b="1" dirty="0">
              <a:solidFill>
                <a:schemeClr val="accent5">
                  <a:lumMod val="10000"/>
                </a:schemeClr>
              </a:solidFill>
            </a:endParaRPr>
          </a:p>
        </p:txBody>
      </p:sp>
    </p:spTree>
    <p:extLst>
      <p:ext uri="{BB962C8B-B14F-4D97-AF65-F5344CB8AC3E}">
        <p14:creationId xmlns:p14="http://schemas.microsoft.com/office/powerpoint/2010/main" val="2367546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BF24C35-64FA-090E-2335-4B132AD0D430}"/>
              </a:ext>
            </a:extLst>
          </p:cNvPr>
          <p:cNvPicPr>
            <a:picLocks noChangeAspect="1"/>
          </p:cNvPicPr>
          <p:nvPr/>
        </p:nvPicPr>
        <p:blipFill>
          <a:blip r:embed="rId2"/>
          <a:stretch>
            <a:fillRect/>
          </a:stretch>
        </p:blipFill>
        <p:spPr>
          <a:xfrm>
            <a:off x="1201515" y="1278383"/>
            <a:ext cx="7170128" cy="3558620"/>
          </a:xfrm>
          <a:prstGeom prst="rect">
            <a:avLst/>
          </a:prstGeom>
        </p:spPr>
      </p:pic>
      <p:sp>
        <p:nvSpPr>
          <p:cNvPr id="9" name="CuadroTexto 8">
            <a:extLst>
              <a:ext uri="{FF2B5EF4-FFF2-40B4-BE49-F238E27FC236}">
                <a16:creationId xmlns:a16="http://schemas.microsoft.com/office/drawing/2014/main" id="{9BFC9F17-E851-A9C3-79DE-17BC905CC5FE}"/>
              </a:ext>
            </a:extLst>
          </p:cNvPr>
          <p:cNvSpPr txBox="1"/>
          <p:nvPr/>
        </p:nvSpPr>
        <p:spPr>
          <a:xfrm>
            <a:off x="2281562" y="4910221"/>
            <a:ext cx="4580876" cy="369332"/>
          </a:xfrm>
          <a:prstGeom prst="rect">
            <a:avLst/>
          </a:prstGeom>
          <a:noFill/>
        </p:spPr>
        <p:txBody>
          <a:bodyPr wrap="square">
            <a:spAutoFit/>
          </a:bodyPr>
          <a:lstStyle/>
          <a:p>
            <a:pPr algn="ctr"/>
            <a:r>
              <a:rPr lang="es-MX" dirty="0"/>
              <a:t>Ejemplos de envió de correo </a:t>
            </a:r>
          </a:p>
        </p:txBody>
      </p:sp>
    </p:spTree>
    <p:extLst>
      <p:ext uri="{BB962C8B-B14F-4D97-AF65-F5344CB8AC3E}">
        <p14:creationId xmlns:p14="http://schemas.microsoft.com/office/powerpoint/2010/main" val="2025688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6C23570-B2D9-F9A5-DE1E-FD07C46A6529}"/>
              </a:ext>
            </a:extLst>
          </p:cNvPr>
          <p:cNvPicPr>
            <a:picLocks noChangeAspect="1"/>
          </p:cNvPicPr>
          <p:nvPr/>
        </p:nvPicPr>
        <p:blipFill>
          <a:blip r:embed="rId2"/>
          <a:stretch>
            <a:fillRect/>
          </a:stretch>
        </p:blipFill>
        <p:spPr>
          <a:xfrm>
            <a:off x="1278385" y="180782"/>
            <a:ext cx="6241790" cy="2953035"/>
          </a:xfrm>
          <a:prstGeom prst="rect">
            <a:avLst/>
          </a:prstGeom>
        </p:spPr>
      </p:pic>
      <p:pic>
        <p:nvPicPr>
          <p:cNvPr id="5" name="Imagen 4">
            <a:extLst>
              <a:ext uri="{FF2B5EF4-FFF2-40B4-BE49-F238E27FC236}">
                <a16:creationId xmlns:a16="http://schemas.microsoft.com/office/drawing/2014/main" id="{F1E52409-F6BD-7EE6-BE26-7A9C295CC859}"/>
              </a:ext>
            </a:extLst>
          </p:cNvPr>
          <p:cNvPicPr>
            <a:picLocks noChangeAspect="1"/>
          </p:cNvPicPr>
          <p:nvPr/>
        </p:nvPicPr>
        <p:blipFill>
          <a:blip r:embed="rId3"/>
          <a:stretch>
            <a:fillRect/>
          </a:stretch>
        </p:blipFill>
        <p:spPr>
          <a:xfrm>
            <a:off x="1278384" y="3330458"/>
            <a:ext cx="6241789" cy="3104623"/>
          </a:xfrm>
          <a:prstGeom prst="rect">
            <a:avLst/>
          </a:prstGeom>
        </p:spPr>
      </p:pic>
      <p:sp>
        <p:nvSpPr>
          <p:cNvPr id="7" name="CuadroTexto 6">
            <a:extLst>
              <a:ext uri="{FF2B5EF4-FFF2-40B4-BE49-F238E27FC236}">
                <a16:creationId xmlns:a16="http://schemas.microsoft.com/office/drawing/2014/main" id="{E073A23C-7F35-7B47-BFAA-2A58ADA7C543}"/>
              </a:ext>
            </a:extLst>
          </p:cNvPr>
          <p:cNvSpPr txBox="1"/>
          <p:nvPr/>
        </p:nvSpPr>
        <p:spPr>
          <a:xfrm>
            <a:off x="1873189" y="6435081"/>
            <a:ext cx="4580876" cy="369332"/>
          </a:xfrm>
          <a:prstGeom prst="rect">
            <a:avLst/>
          </a:prstGeom>
          <a:noFill/>
        </p:spPr>
        <p:txBody>
          <a:bodyPr wrap="square">
            <a:spAutoFit/>
          </a:bodyPr>
          <a:lstStyle/>
          <a:p>
            <a:pPr algn="ctr"/>
            <a:r>
              <a:rPr lang="es-MX" dirty="0"/>
              <a:t>Ejemplos de envió de correo </a:t>
            </a:r>
          </a:p>
        </p:txBody>
      </p:sp>
    </p:spTree>
    <p:extLst>
      <p:ext uri="{BB962C8B-B14F-4D97-AF65-F5344CB8AC3E}">
        <p14:creationId xmlns:p14="http://schemas.microsoft.com/office/powerpoint/2010/main" val="3037453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6AFB9D0-5636-0069-BF23-A16998FFC38C}"/>
              </a:ext>
            </a:extLst>
          </p:cNvPr>
          <p:cNvPicPr>
            <a:picLocks noChangeAspect="1"/>
          </p:cNvPicPr>
          <p:nvPr/>
        </p:nvPicPr>
        <p:blipFill>
          <a:blip r:embed="rId2"/>
          <a:stretch>
            <a:fillRect/>
          </a:stretch>
        </p:blipFill>
        <p:spPr>
          <a:xfrm>
            <a:off x="1246376" y="816746"/>
            <a:ext cx="7072333" cy="3835154"/>
          </a:xfrm>
          <a:prstGeom prst="rect">
            <a:avLst/>
          </a:prstGeom>
        </p:spPr>
      </p:pic>
      <p:sp>
        <p:nvSpPr>
          <p:cNvPr id="5" name="CuadroTexto 4">
            <a:extLst>
              <a:ext uri="{FF2B5EF4-FFF2-40B4-BE49-F238E27FC236}">
                <a16:creationId xmlns:a16="http://schemas.microsoft.com/office/drawing/2014/main" id="{E8F2DB0C-F4A9-4BD5-C4FE-CAC27C5312A7}"/>
              </a:ext>
            </a:extLst>
          </p:cNvPr>
          <p:cNvSpPr txBox="1"/>
          <p:nvPr/>
        </p:nvSpPr>
        <p:spPr>
          <a:xfrm>
            <a:off x="2166152" y="4791267"/>
            <a:ext cx="4580876" cy="369332"/>
          </a:xfrm>
          <a:prstGeom prst="rect">
            <a:avLst/>
          </a:prstGeom>
          <a:noFill/>
        </p:spPr>
        <p:txBody>
          <a:bodyPr wrap="square">
            <a:spAutoFit/>
          </a:bodyPr>
          <a:lstStyle/>
          <a:p>
            <a:pPr algn="ctr"/>
            <a:r>
              <a:rPr lang="es-MX" dirty="0"/>
              <a:t>Ejemplo de envió de correo </a:t>
            </a:r>
          </a:p>
        </p:txBody>
      </p:sp>
    </p:spTree>
    <p:extLst>
      <p:ext uri="{BB962C8B-B14F-4D97-AF65-F5344CB8AC3E}">
        <p14:creationId xmlns:p14="http://schemas.microsoft.com/office/powerpoint/2010/main" val="3022840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2968D8E-B126-B417-3F12-8B2D767A4753}"/>
              </a:ext>
            </a:extLst>
          </p:cNvPr>
          <p:cNvPicPr>
            <a:picLocks noChangeAspect="1"/>
          </p:cNvPicPr>
          <p:nvPr/>
        </p:nvPicPr>
        <p:blipFill>
          <a:blip r:embed="rId2"/>
          <a:stretch>
            <a:fillRect/>
          </a:stretch>
        </p:blipFill>
        <p:spPr>
          <a:xfrm>
            <a:off x="973692" y="1100830"/>
            <a:ext cx="7566626" cy="1999695"/>
          </a:xfrm>
          <a:prstGeom prst="rect">
            <a:avLst/>
          </a:prstGeom>
        </p:spPr>
      </p:pic>
      <p:pic>
        <p:nvPicPr>
          <p:cNvPr id="5" name="Imagen 4">
            <a:extLst>
              <a:ext uri="{FF2B5EF4-FFF2-40B4-BE49-F238E27FC236}">
                <a16:creationId xmlns:a16="http://schemas.microsoft.com/office/drawing/2014/main" id="{DFAA961B-902E-2622-D7DE-723589572E5F}"/>
              </a:ext>
            </a:extLst>
          </p:cNvPr>
          <p:cNvPicPr>
            <a:picLocks noChangeAspect="1"/>
          </p:cNvPicPr>
          <p:nvPr/>
        </p:nvPicPr>
        <p:blipFill>
          <a:blip r:embed="rId3"/>
          <a:stretch>
            <a:fillRect/>
          </a:stretch>
        </p:blipFill>
        <p:spPr>
          <a:xfrm>
            <a:off x="973692" y="3100525"/>
            <a:ext cx="7395099" cy="2524767"/>
          </a:xfrm>
          <a:prstGeom prst="rect">
            <a:avLst/>
          </a:prstGeom>
        </p:spPr>
      </p:pic>
      <p:sp>
        <p:nvSpPr>
          <p:cNvPr id="6" name="CuadroTexto 5">
            <a:extLst>
              <a:ext uri="{FF2B5EF4-FFF2-40B4-BE49-F238E27FC236}">
                <a16:creationId xmlns:a16="http://schemas.microsoft.com/office/drawing/2014/main" id="{D7382157-603B-D029-DDEE-32B3F4132BA5}"/>
              </a:ext>
            </a:extLst>
          </p:cNvPr>
          <p:cNvSpPr txBox="1"/>
          <p:nvPr/>
        </p:nvSpPr>
        <p:spPr>
          <a:xfrm>
            <a:off x="1567186" y="5865812"/>
            <a:ext cx="6208110" cy="646331"/>
          </a:xfrm>
          <a:prstGeom prst="rect">
            <a:avLst/>
          </a:prstGeom>
          <a:noFill/>
        </p:spPr>
        <p:txBody>
          <a:bodyPr wrap="none" rtlCol="0">
            <a:spAutoFit/>
          </a:bodyPr>
          <a:lstStyle/>
          <a:p>
            <a:r>
              <a:rPr lang="es-MX" dirty="0">
                <a:solidFill>
                  <a:schemeClr val="accent2"/>
                </a:solidFill>
              </a:rPr>
              <a:t>Si el correo fue enviado se marcara una casilla automáticamente </a:t>
            </a:r>
          </a:p>
          <a:p>
            <a:r>
              <a:rPr lang="es-MX" dirty="0">
                <a:solidFill>
                  <a:schemeClr val="accent2"/>
                </a:solidFill>
              </a:rPr>
              <a:t>que luego se leerá para evitar reiteraciones de spam</a:t>
            </a:r>
            <a:endParaRPr lang="es-AR" dirty="0">
              <a:solidFill>
                <a:schemeClr val="accent2"/>
              </a:solidFill>
            </a:endParaRPr>
          </a:p>
        </p:txBody>
      </p:sp>
      <p:sp>
        <p:nvSpPr>
          <p:cNvPr id="8" name="CuadroTexto 7">
            <a:extLst>
              <a:ext uri="{FF2B5EF4-FFF2-40B4-BE49-F238E27FC236}">
                <a16:creationId xmlns:a16="http://schemas.microsoft.com/office/drawing/2014/main" id="{12EA1391-55B7-082F-6FC7-39EE30C7FC54}"/>
              </a:ext>
            </a:extLst>
          </p:cNvPr>
          <p:cNvSpPr txBox="1"/>
          <p:nvPr/>
        </p:nvSpPr>
        <p:spPr>
          <a:xfrm>
            <a:off x="2190939" y="611238"/>
            <a:ext cx="4581052" cy="369332"/>
          </a:xfrm>
          <a:prstGeom prst="rect">
            <a:avLst/>
          </a:prstGeom>
          <a:noFill/>
        </p:spPr>
        <p:txBody>
          <a:bodyPr wrap="square">
            <a:spAutoFit/>
          </a:bodyPr>
          <a:lstStyle/>
          <a:p>
            <a:pPr algn="ctr"/>
            <a:r>
              <a:rPr lang="es-MX" dirty="0"/>
              <a:t>Interfaz del Google Sheets</a:t>
            </a:r>
          </a:p>
        </p:txBody>
      </p:sp>
    </p:spTree>
    <p:extLst>
      <p:ext uri="{BB962C8B-B14F-4D97-AF65-F5344CB8AC3E}">
        <p14:creationId xmlns:p14="http://schemas.microsoft.com/office/powerpoint/2010/main" val="2898157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18AABEE-638F-583E-DB7E-1CF94354DED8}"/>
              </a:ext>
            </a:extLst>
          </p:cNvPr>
          <p:cNvPicPr>
            <a:picLocks noChangeAspect="1"/>
          </p:cNvPicPr>
          <p:nvPr/>
        </p:nvPicPr>
        <p:blipFill>
          <a:blip r:embed="rId2"/>
          <a:stretch>
            <a:fillRect/>
          </a:stretch>
        </p:blipFill>
        <p:spPr>
          <a:xfrm>
            <a:off x="1029810" y="1349376"/>
            <a:ext cx="7403975" cy="3673051"/>
          </a:xfrm>
          <a:prstGeom prst="rect">
            <a:avLst/>
          </a:prstGeom>
        </p:spPr>
      </p:pic>
      <p:sp>
        <p:nvSpPr>
          <p:cNvPr id="7" name="CuadroTexto 6">
            <a:extLst>
              <a:ext uri="{FF2B5EF4-FFF2-40B4-BE49-F238E27FC236}">
                <a16:creationId xmlns:a16="http://schemas.microsoft.com/office/drawing/2014/main" id="{FE6F6134-6F7E-AA48-9F8A-C84A623F86F1}"/>
              </a:ext>
            </a:extLst>
          </p:cNvPr>
          <p:cNvSpPr txBox="1"/>
          <p:nvPr/>
        </p:nvSpPr>
        <p:spPr>
          <a:xfrm>
            <a:off x="2281562" y="716417"/>
            <a:ext cx="4580876" cy="369332"/>
          </a:xfrm>
          <a:prstGeom prst="rect">
            <a:avLst/>
          </a:prstGeom>
          <a:noFill/>
        </p:spPr>
        <p:txBody>
          <a:bodyPr wrap="square">
            <a:spAutoFit/>
          </a:bodyPr>
          <a:lstStyle/>
          <a:p>
            <a:pPr marL="0" algn="ctr" rtl="0" eaLnBrk="1" latinLnBrk="0" hangingPunct="1">
              <a:buNone/>
            </a:pPr>
            <a:r>
              <a:rPr lang="es-MX" dirty="0">
                <a:solidFill>
                  <a:srgbClr val="8C3F3F"/>
                </a:solidFill>
                <a:latin typeface="Tw Cen MT" panose="020B0602020104020603" pitchFamily="34" charset="0"/>
              </a:rPr>
              <a:t>Ejecución manual del sistema</a:t>
            </a:r>
            <a:endParaRPr lang="es-AR" dirty="0">
              <a:effectLst/>
            </a:endParaRPr>
          </a:p>
        </p:txBody>
      </p:sp>
    </p:spTree>
    <p:extLst>
      <p:ext uri="{BB962C8B-B14F-4D97-AF65-F5344CB8AC3E}">
        <p14:creationId xmlns:p14="http://schemas.microsoft.com/office/powerpoint/2010/main" val="3691113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E93C5B3-75C2-F11E-193E-EB40CBB4D04F}"/>
              </a:ext>
            </a:extLst>
          </p:cNvPr>
          <p:cNvSpPr txBox="1"/>
          <p:nvPr/>
        </p:nvSpPr>
        <p:spPr>
          <a:xfrm>
            <a:off x="1047177" y="669853"/>
            <a:ext cx="7528263" cy="1184940"/>
          </a:xfrm>
          <a:prstGeom prst="rect">
            <a:avLst/>
          </a:prstGeom>
          <a:noFill/>
        </p:spPr>
        <p:txBody>
          <a:bodyPr wrap="square" rtlCol="0">
            <a:spAutoFit/>
          </a:bodyPr>
          <a:lstStyle/>
          <a:p>
            <a:r>
              <a:rPr lang="es-MX" dirty="0"/>
              <a:t>Imagen de los Activadores. </a:t>
            </a:r>
          </a:p>
          <a:p>
            <a:pPr marL="342900" indent="-342900">
              <a:buFont typeface="+mj-lt"/>
              <a:buAutoNum type="arabicPeriod"/>
            </a:pPr>
            <a:r>
              <a:rPr lang="es-MX" sz="1300" dirty="0">
                <a:solidFill>
                  <a:schemeClr val="accent2"/>
                </a:solidFill>
              </a:rPr>
              <a:t>Se ejecuta automáticamente el sistema cada 12 horas</a:t>
            </a:r>
          </a:p>
          <a:p>
            <a:pPr marL="342900" indent="-342900">
              <a:buFont typeface="+mj-lt"/>
              <a:buAutoNum type="arabicPeriod"/>
            </a:pPr>
            <a:r>
              <a:rPr lang="es-MX" sz="1300" dirty="0">
                <a:solidFill>
                  <a:schemeClr val="accent2"/>
                </a:solidFill>
              </a:rPr>
              <a:t>Se ejecuta automáticamente el sistema al realizar un cambio en la planilla</a:t>
            </a:r>
          </a:p>
          <a:p>
            <a:r>
              <a:rPr lang="es-MX" sz="1300" dirty="0">
                <a:solidFill>
                  <a:schemeClr val="accent2"/>
                </a:solidFill>
              </a:rPr>
              <a:t>3.    Se ejecuta automáticamente el sistema al realizar un cambio en la planilla sobre la protección de celdas</a:t>
            </a:r>
          </a:p>
          <a:p>
            <a:endParaRPr lang="es-AR" sz="1400" dirty="0">
              <a:solidFill>
                <a:schemeClr val="accent2"/>
              </a:solidFill>
            </a:endParaRPr>
          </a:p>
        </p:txBody>
      </p:sp>
      <p:pic>
        <p:nvPicPr>
          <p:cNvPr id="6" name="Imagen 5">
            <a:extLst>
              <a:ext uri="{FF2B5EF4-FFF2-40B4-BE49-F238E27FC236}">
                <a16:creationId xmlns:a16="http://schemas.microsoft.com/office/drawing/2014/main" id="{43D37AD7-E6DC-D2CD-2C38-4346C489B187}"/>
              </a:ext>
            </a:extLst>
          </p:cNvPr>
          <p:cNvPicPr>
            <a:picLocks noChangeAspect="1"/>
          </p:cNvPicPr>
          <p:nvPr/>
        </p:nvPicPr>
        <p:blipFill>
          <a:blip r:embed="rId2"/>
          <a:srcRect b="20624"/>
          <a:stretch>
            <a:fillRect/>
          </a:stretch>
        </p:blipFill>
        <p:spPr>
          <a:xfrm>
            <a:off x="921028" y="4013170"/>
            <a:ext cx="5994678" cy="2543269"/>
          </a:xfrm>
          <a:prstGeom prst="rect">
            <a:avLst/>
          </a:prstGeom>
        </p:spPr>
      </p:pic>
      <p:sp>
        <p:nvSpPr>
          <p:cNvPr id="8" name="CuadroTexto 7">
            <a:extLst>
              <a:ext uri="{FF2B5EF4-FFF2-40B4-BE49-F238E27FC236}">
                <a16:creationId xmlns:a16="http://schemas.microsoft.com/office/drawing/2014/main" id="{6CEA3E36-ACFF-5369-9B9F-F76411E87DF4}"/>
              </a:ext>
            </a:extLst>
          </p:cNvPr>
          <p:cNvSpPr txBox="1"/>
          <p:nvPr/>
        </p:nvSpPr>
        <p:spPr>
          <a:xfrm>
            <a:off x="1322773" y="3047059"/>
            <a:ext cx="4544108" cy="969496"/>
          </a:xfrm>
          <a:prstGeom prst="rect">
            <a:avLst/>
          </a:prstGeom>
          <a:noFill/>
        </p:spPr>
        <p:txBody>
          <a:bodyPr wrap="square">
            <a:spAutoFit/>
          </a:bodyPr>
          <a:lstStyle/>
          <a:p>
            <a:r>
              <a:rPr lang="es-MX" dirty="0"/>
              <a:t>Sistema de Protección de celdas .</a:t>
            </a:r>
          </a:p>
          <a:p>
            <a:endParaRPr lang="es-MX" sz="1300" dirty="0">
              <a:solidFill>
                <a:schemeClr val="accent2"/>
              </a:solidFill>
            </a:endParaRPr>
          </a:p>
          <a:p>
            <a:r>
              <a:rPr lang="es-MX" sz="1300" dirty="0">
                <a:solidFill>
                  <a:schemeClr val="accent2"/>
                </a:solidFill>
              </a:rPr>
              <a:t>Evita cambios de columnas lo cual arruinaría la correcta lectura de los datos </a:t>
            </a:r>
            <a:r>
              <a:rPr lang="es-MX" sz="1300" dirty="0"/>
              <a:t> </a:t>
            </a:r>
          </a:p>
        </p:txBody>
      </p:sp>
      <p:pic>
        <p:nvPicPr>
          <p:cNvPr id="5" name="Imagen 4">
            <a:extLst>
              <a:ext uri="{FF2B5EF4-FFF2-40B4-BE49-F238E27FC236}">
                <a16:creationId xmlns:a16="http://schemas.microsoft.com/office/drawing/2014/main" id="{1B075F7E-BB78-1D17-F33E-9752F7FCB4ED}"/>
              </a:ext>
            </a:extLst>
          </p:cNvPr>
          <p:cNvPicPr>
            <a:picLocks noChangeAspect="1"/>
          </p:cNvPicPr>
          <p:nvPr/>
        </p:nvPicPr>
        <p:blipFill>
          <a:blip r:embed="rId3"/>
          <a:srcRect r="1359"/>
          <a:stretch>
            <a:fillRect/>
          </a:stretch>
        </p:blipFill>
        <p:spPr>
          <a:xfrm>
            <a:off x="372473" y="1635964"/>
            <a:ext cx="8202967" cy="1411095"/>
          </a:xfrm>
          <a:prstGeom prst="rect">
            <a:avLst/>
          </a:prstGeom>
        </p:spPr>
      </p:pic>
    </p:spTree>
    <p:extLst>
      <p:ext uri="{BB962C8B-B14F-4D97-AF65-F5344CB8AC3E}">
        <p14:creationId xmlns:p14="http://schemas.microsoft.com/office/powerpoint/2010/main" val="4195796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247297D-1276-A1D1-AF70-8769890B5EBD}"/>
              </a:ext>
            </a:extLst>
          </p:cNvPr>
          <p:cNvPicPr>
            <a:picLocks noChangeAspect="1"/>
          </p:cNvPicPr>
          <p:nvPr/>
        </p:nvPicPr>
        <p:blipFill>
          <a:blip r:embed="rId2"/>
          <a:stretch>
            <a:fillRect/>
          </a:stretch>
        </p:blipFill>
        <p:spPr>
          <a:xfrm>
            <a:off x="922418" y="1535057"/>
            <a:ext cx="7884229" cy="3787885"/>
          </a:xfrm>
          <a:prstGeom prst="rect">
            <a:avLst/>
          </a:prstGeom>
        </p:spPr>
      </p:pic>
      <p:sp>
        <p:nvSpPr>
          <p:cNvPr id="5" name="CuadroTexto 4">
            <a:extLst>
              <a:ext uri="{FF2B5EF4-FFF2-40B4-BE49-F238E27FC236}">
                <a16:creationId xmlns:a16="http://schemas.microsoft.com/office/drawing/2014/main" id="{630723EA-DBC5-F8E5-2B5F-F32A1B4127A1}"/>
              </a:ext>
            </a:extLst>
          </p:cNvPr>
          <p:cNvSpPr txBox="1"/>
          <p:nvPr/>
        </p:nvSpPr>
        <p:spPr>
          <a:xfrm>
            <a:off x="1384915" y="889738"/>
            <a:ext cx="7235301" cy="400110"/>
          </a:xfrm>
          <a:prstGeom prst="rect">
            <a:avLst/>
          </a:prstGeom>
          <a:noFill/>
        </p:spPr>
        <p:txBody>
          <a:bodyPr wrap="square">
            <a:spAutoFit/>
          </a:bodyPr>
          <a:lstStyle/>
          <a:p>
            <a:r>
              <a:rPr lang="es-MX" sz="2000" dirty="0"/>
              <a:t>Imagen del funcionamiento de la función para protección de celdas</a:t>
            </a:r>
            <a:endParaRPr lang="es-AR" sz="2000" dirty="0"/>
          </a:p>
        </p:txBody>
      </p:sp>
      <p:sp>
        <p:nvSpPr>
          <p:cNvPr id="7" name="CuadroTexto 6">
            <a:extLst>
              <a:ext uri="{FF2B5EF4-FFF2-40B4-BE49-F238E27FC236}">
                <a16:creationId xmlns:a16="http://schemas.microsoft.com/office/drawing/2014/main" id="{F3A5A671-ECB6-E0E0-425F-968366F27D96}"/>
              </a:ext>
            </a:extLst>
          </p:cNvPr>
          <p:cNvSpPr txBox="1"/>
          <p:nvPr/>
        </p:nvSpPr>
        <p:spPr>
          <a:xfrm>
            <a:off x="2086250" y="5398874"/>
            <a:ext cx="5832629" cy="338554"/>
          </a:xfrm>
          <a:prstGeom prst="rect">
            <a:avLst/>
          </a:prstGeom>
          <a:noFill/>
        </p:spPr>
        <p:txBody>
          <a:bodyPr wrap="square">
            <a:spAutoFit/>
          </a:bodyPr>
          <a:lstStyle/>
          <a:p>
            <a:r>
              <a:rPr lang="es-MX" sz="1600" dirty="0">
                <a:solidFill>
                  <a:schemeClr val="bg1">
                    <a:lumMod val="50000"/>
                  </a:schemeClr>
                </a:solidFill>
              </a:rPr>
              <a:t>Ejemplo de lo que sucede al cambiar una columna de lugar</a:t>
            </a:r>
            <a:endParaRPr lang="es-AR" sz="1600" dirty="0">
              <a:solidFill>
                <a:schemeClr val="bg1">
                  <a:lumMod val="50000"/>
                </a:schemeClr>
              </a:solidFill>
            </a:endParaRPr>
          </a:p>
        </p:txBody>
      </p:sp>
    </p:spTree>
    <p:extLst>
      <p:ext uri="{BB962C8B-B14F-4D97-AF65-F5344CB8AC3E}">
        <p14:creationId xmlns:p14="http://schemas.microsoft.com/office/powerpoint/2010/main" val="4099608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D47004F-87ED-A227-D661-ADD638B9DB22}"/>
              </a:ext>
            </a:extLst>
          </p:cNvPr>
          <p:cNvPicPr>
            <a:picLocks noChangeAspect="1"/>
          </p:cNvPicPr>
          <p:nvPr/>
        </p:nvPicPr>
        <p:blipFill>
          <a:blip r:embed="rId2"/>
          <a:stretch>
            <a:fillRect/>
          </a:stretch>
        </p:blipFill>
        <p:spPr>
          <a:xfrm>
            <a:off x="2302002" y="171943"/>
            <a:ext cx="4387596" cy="5078236"/>
          </a:xfrm>
          <a:prstGeom prst="rect">
            <a:avLst/>
          </a:prstGeom>
        </p:spPr>
      </p:pic>
      <p:sp>
        <p:nvSpPr>
          <p:cNvPr id="5" name="CuadroTexto 4">
            <a:extLst>
              <a:ext uri="{FF2B5EF4-FFF2-40B4-BE49-F238E27FC236}">
                <a16:creationId xmlns:a16="http://schemas.microsoft.com/office/drawing/2014/main" id="{458AD9ED-1211-E9D8-C367-A3E9E546F6DE}"/>
              </a:ext>
            </a:extLst>
          </p:cNvPr>
          <p:cNvSpPr txBox="1"/>
          <p:nvPr/>
        </p:nvSpPr>
        <p:spPr>
          <a:xfrm>
            <a:off x="2109978" y="5303519"/>
            <a:ext cx="4579620" cy="523220"/>
          </a:xfrm>
          <a:prstGeom prst="rect">
            <a:avLst/>
          </a:prstGeom>
          <a:noFill/>
        </p:spPr>
        <p:txBody>
          <a:bodyPr wrap="square">
            <a:spAutoFit/>
          </a:bodyPr>
          <a:lstStyle/>
          <a:p>
            <a:pPr algn="ctr"/>
            <a:r>
              <a:rPr lang="es-MX" sz="1400" dirty="0">
                <a:solidFill>
                  <a:schemeClr val="accent2"/>
                </a:solidFill>
              </a:rPr>
              <a:t>Texto insertado en el Google Sheets en forma de guía  para los empleados</a:t>
            </a:r>
          </a:p>
        </p:txBody>
      </p:sp>
    </p:spTree>
    <p:extLst>
      <p:ext uri="{BB962C8B-B14F-4D97-AF65-F5344CB8AC3E}">
        <p14:creationId xmlns:p14="http://schemas.microsoft.com/office/powerpoint/2010/main" val="726080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3D07517-3697-1638-AB94-584F589B073A}"/>
              </a:ext>
            </a:extLst>
          </p:cNvPr>
          <p:cNvSpPr txBox="1"/>
          <p:nvPr/>
        </p:nvSpPr>
        <p:spPr>
          <a:xfrm>
            <a:off x="1912139" y="236808"/>
            <a:ext cx="5696024" cy="373051"/>
          </a:xfrm>
          <a:prstGeom prst="rect">
            <a:avLst/>
          </a:prstGeom>
          <a:noFill/>
        </p:spPr>
        <p:txBody>
          <a:bodyPr wrap="square">
            <a:spAutoFit/>
          </a:bodyPr>
          <a:lstStyle/>
          <a:p>
            <a:pPr>
              <a:lnSpc>
                <a:spcPct val="107000"/>
              </a:lnSpc>
              <a:spcAft>
                <a:spcPts val="800"/>
              </a:spcAft>
              <a:buNone/>
            </a:pPr>
            <a:r>
              <a:rPr lang="es-AR" sz="1800" b="1" dirty="0">
                <a:latin typeface="Lato" panose="020F0502020204030203" pitchFamily="34" charset="0"/>
                <a:ea typeface="Lato" panose="020F0502020204030203" pitchFamily="34" charset="0"/>
                <a:cs typeface="Lato" panose="020F0502020204030203" pitchFamily="34" charset="0"/>
              </a:rPr>
              <a:t>Proceso Técnico de Envió  cambios de Capas </a:t>
            </a:r>
            <a:endParaRPr lang="es-AR" dirty="0">
              <a:latin typeface="Calibri" panose="020F0502020204030204" pitchFamily="34" charset="0"/>
              <a:ea typeface="Calibri" panose="020F0502020204030204" pitchFamily="34" charset="0"/>
            </a:endParaRPr>
          </a:p>
        </p:txBody>
      </p:sp>
      <p:sp>
        <p:nvSpPr>
          <p:cNvPr id="6" name="CuadroTexto 5">
            <a:extLst>
              <a:ext uri="{FF2B5EF4-FFF2-40B4-BE49-F238E27FC236}">
                <a16:creationId xmlns:a16="http://schemas.microsoft.com/office/drawing/2014/main" id="{A96606B0-407E-CEF1-62DB-E54917399B5A}"/>
              </a:ext>
            </a:extLst>
          </p:cNvPr>
          <p:cNvSpPr txBox="1"/>
          <p:nvPr/>
        </p:nvSpPr>
        <p:spPr>
          <a:xfrm>
            <a:off x="287527" y="1216906"/>
            <a:ext cx="4130112" cy="4917565"/>
          </a:xfrm>
          <a:prstGeom prst="rect">
            <a:avLst/>
          </a:prstGeom>
          <a:noFill/>
        </p:spPr>
        <p:txBody>
          <a:bodyPr wrap="square">
            <a:spAutoFit/>
          </a:bodyPr>
          <a:lstStyle/>
          <a:p>
            <a:pPr>
              <a:lnSpc>
                <a:spcPct val="107000"/>
              </a:lnSpc>
              <a:spcAft>
                <a:spcPts val="800"/>
              </a:spcAft>
              <a:buNone/>
            </a:pPr>
            <a:r>
              <a:rPr lang="es-AR" sz="1600" b="1" dirty="0">
                <a:solidFill>
                  <a:srgbClr val="FF0000"/>
                </a:solidFill>
                <a:effectLst/>
                <a:latin typeface="Lato" panose="020F0502020204030203" pitchFamily="34" charset="0"/>
                <a:ea typeface="Calibri" panose="020F0502020204030204" pitchFamily="34" charset="0"/>
              </a:rPr>
              <a:t>1. enviarCorreosChequeResolucion () </a:t>
            </a:r>
            <a:r>
              <a:rPr lang="es-AR" sz="1600" b="1" dirty="0">
                <a:solidFill>
                  <a:srgbClr val="FF0000"/>
                </a:solidFill>
                <a:effectLst/>
                <a:latin typeface="Segoe UI Emoji" panose="020B0502040204020203" pitchFamily="34" charset="0"/>
                <a:ea typeface="Calibri" panose="020F0502020204030204" pitchFamily="34" charset="0"/>
                <a:cs typeface="Segoe UI Emoji" panose="020B0502040204020203" pitchFamily="34" charset="0"/>
              </a:rPr>
              <a:t>✉️</a:t>
            </a:r>
            <a:endParaRPr lang="es-AR" sz="1600" dirty="0">
              <a:solidFill>
                <a:srgbClr val="FF0000"/>
              </a:solidFill>
              <a:effectLst/>
              <a:latin typeface="Calibri" panose="020F0502020204030204" pitchFamily="34" charset="0"/>
              <a:ea typeface="Calibri" panose="020F0502020204030204" pitchFamily="34" charset="0"/>
            </a:endParaRPr>
          </a:p>
          <a:p>
            <a:pPr>
              <a:lnSpc>
                <a:spcPct val="107000"/>
              </a:lnSpc>
              <a:spcAft>
                <a:spcPts val="800"/>
              </a:spcAft>
              <a:buNone/>
            </a:pPr>
            <a:r>
              <a:rPr lang="es-AR" sz="1400" b="1" dirty="0">
                <a:solidFill>
                  <a:schemeClr val="bg1">
                    <a:lumMod val="50000"/>
                  </a:schemeClr>
                </a:solidFill>
                <a:latin typeface="Lato" panose="020F0502020204030203" pitchFamily="34" charset="0"/>
                <a:ea typeface="Calibri" panose="020F0502020204030204" pitchFamily="34" charset="0"/>
              </a:rPr>
              <a:t>F</a:t>
            </a:r>
            <a:r>
              <a:rPr lang="es-AR" sz="1400" b="1" dirty="0">
                <a:solidFill>
                  <a:schemeClr val="bg1">
                    <a:lumMod val="50000"/>
                  </a:schemeClr>
                </a:solidFill>
                <a:effectLst/>
                <a:latin typeface="Lato" panose="020F0502020204030203" pitchFamily="34" charset="0"/>
                <a:ea typeface="Calibri" panose="020F0502020204030204" pitchFamily="34" charset="0"/>
              </a:rPr>
              <a:t>unción principal</a:t>
            </a:r>
            <a:r>
              <a:rPr lang="es-AR" sz="1400" dirty="0">
                <a:solidFill>
                  <a:schemeClr val="bg1">
                    <a:lumMod val="50000"/>
                  </a:schemeClr>
                </a:solidFill>
                <a:effectLst/>
                <a:latin typeface="Lato" panose="020F0502020204030203" pitchFamily="34" charset="0"/>
                <a:ea typeface="Calibri" panose="020F0502020204030204" pitchFamily="34" charset="0"/>
              </a:rPr>
              <a:t> que inicia el proceso.</a:t>
            </a:r>
            <a:endParaRPr lang="es-AR" sz="1400" dirty="0">
              <a:solidFill>
                <a:schemeClr val="bg1">
                  <a:lumMod val="50000"/>
                </a:schemeClr>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000" b="1" dirty="0">
                <a:solidFill>
                  <a:srgbClr val="002060"/>
                </a:solidFill>
                <a:effectLst/>
                <a:latin typeface="Lato" panose="020F0502020204030203" pitchFamily="34" charset="0"/>
                <a:ea typeface="Calibri" panose="020F0502020204030204" pitchFamily="34" charset="0"/>
              </a:rPr>
              <a:t>1: Obtener datos.</a:t>
            </a:r>
            <a:r>
              <a:rPr lang="es-AR" sz="1000" dirty="0">
                <a:solidFill>
                  <a:srgbClr val="002060"/>
                </a:solidFill>
                <a:effectLst/>
                <a:latin typeface="Lato" panose="020F0502020204030203" pitchFamily="34" charset="0"/>
                <a:ea typeface="Calibri" panose="020F0502020204030204" pitchFamily="34" charset="0"/>
              </a:rPr>
              <a:t> El código se conecta a la hoja de cálculo activa, lee todos los datos de la hoja y los almacena en la variable datos. También obtiene la fecha actual (hoy).</a:t>
            </a:r>
            <a:endParaRPr lang="es-AR" sz="10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000" b="1" dirty="0">
                <a:solidFill>
                  <a:srgbClr val="002060"/>
                </a:solidFill>
                <a:effectLst/>
                <a:latin typeface="Lato" panose="020F0502020204030203" pitchFamily="34" charset="0"/>
                <a:ea typeface="Calibri" panose="020F0502020204030204" pitchFamily="34" charset="0"/>
              </a:rPr>
              <a:t>2: Iterar las filas.</a:t>
            </a:r>
            <a:r>
              <a:rPr lang="es-AR" sz="1000" dirty="0">
                <a:solidFill>
                  <a:srgbClr val="002060"/>
                </a:solidFill>
                <a:effectLst/>
                <a:latin typeface="Lato" panose="020F0502020204030203" pitchFamily="34" charset="0"/>
                <a:ea typeface="Calibri" panose="020F0502020204030204" pitchFamily="34" charset="0"/>
              </a:rPr>
              <a:t> Recorre cada fila de la hoja de cálculo, comenzando desde la segunda fila (índice 1) para saltarse los encabezados.</a:t>
            </a:r>
            <a:endParaRPr lang="es-AR" sz="10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000" b="1" dirty="0">
                <a:solidFill>
                  <a:srgbClr val="002060"/>
                </a:solidFill>
                <a:effectLst/>
                <a:latin typeface="Lato" panose="020F0502020204030203" pitchFamily="34" charset="0"/>
                <a:ea typeface="Calibri" panose="020F0502020204030204" pitchFamily="34" charset="0"/>
              </a:rPr>
              <a:t>3: Extraer la información.</a:t>
            </a:r>
            <a:r>
              <a:rPr lang="es-AR" sz="1000" dirty="0">
                <a:solidFill>
                  <a:srgbClr val="002060"/>
                </a:solidFill>
                <a:effectLst/>
                <a:latin typeface="Lato" panose="020F0502020204030203" pitchFamily="34" charset="0"/>
                <a:ea typeface="Calibri" panose="020F0502020204030204" pitchFamily="34" charset="0"/>
              </a:rPr>
              <a:t> En cada fila, asigna los valores a variables con nombres claros como </a:t>
            </a:r>
            <a:r>
              <a:rPr lang="es-AR" sz="1000" b="1" dirty="0">
                <a:solidFill>
                  <a:srgbClr val="002060"/>
                </a:solidFill>
                <a:effectLst/>
                <a:latin typeface="Lato" panose="020F0502020204030203" pitchFamily="34" charset="0"/>
                <a:ea typeface="Calibri" panose="020F0502020204030204" pitchFamily="34" charset="0"/>
              </a:rPr>
              <a:t>titularCheque, vencimientoCheque, expteNum</a:t>
            </a:r>
            <a:r>
              <a:rPr lang="es-AR" sz="1000" dirty="0">
                <a:solidFill>
                  <a:srgbClr val="002060"/>
                </a:solidFill>
                <a:effectLst/>
                <a:latin typeface="Lato" panose="020F0502020204030203" pitchFamily="34" charset="0"/>
                <a:ea typeface="Calibri" panose="020F0502020204030204" pitchFamily="34" charset="0"/>
              </a:rPr>
              <a:t>, etc.</a:t>
            </a:r>
            <a:endParaRPr lang="es-AR" sz="10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000" b="1" dirty="0">
                <a:solidFill>
                  <a:srgbClr val="002060"/>
                </a:solidFill>
                <a:effectLst/>
                <a:latin typeface="Lato" panose="020F0502020204030203" pitchFamily="34" charset="0"/>
                <a:ea typeface="Calibri" panose="020F0502020204030204" pitchFamily="34" charset="0"/>
              </a:rPr>
              <a:t>4: Evitar duplicados.</a:t>
            </a:r>
            <a:r>
              <a:rPr lang="es-AR" sz="1000" dirty="0">
                <a:solidFill>
                  <a:srgbClr val="002060"/>
                </a:solidFill>
                <a:effectLst/>
                <a:latin typeface="Lato" panose="020F0502020204030203" pitchFamily="34" charset="0"/>
                <a:ea typeface="Calibri" panose="020F0502020204030204" pitchFamily="34" charset="0"/>
              </a:rPr>
              <a:t> Comprueba si el valor en la columna </a:t>
            </a:r>
            <a:r>
              <a:rPr lang="es-AR" sz="1000" b="1" dirty="0">
                <a:solidFill>
                  <a:srgbClr val="002060"/>
                </a:solidFill>
                <a:effectLst/>
                <a:latin typeface="Lato" panose="020F0502020204030203" pitchFamily="34" charset="0"/>
                <a:ea typeface="Calibri" panose="020F0502020204030204" pitchFamily="34" charset="0"/>
              </a:rPr>
              <a:t>estadoCorreo</a:t>
            </a:r>
            <a:r>
              <a:rPr lang="es-AR" sz="1000" dirty="0">
                <a:solidFill>
                  <a:srgbClr val="002060"/>
                </a:solidFill>
                <a:effectLst/>
                <a:latin typeface="Lato" panose="020F0502020204030203" pitchFamily="34" charset="0"/>
                <a:ea typeface="Calibri" panose="020F0502020204030204" pitchFamily="34" charset="0"/>
              </a:rPr>
              <a:t> es "Correo Enviado". Si ya fue enviado, ignora la fila y pasa a la siguiente (continue). Esto es crucial para no enviar el mismo correo varias veces.</a:t>
            </a:r>
            <a:endParaRPr lang="es-AR" sz="10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000" b="1" dirty="0">
                <a:solidFill>
                  <a:srgbClr val="002060"/>
                </a:solidFill>
                <a:effectLst/>
                <a:latin typeface="Lato" panose="020F0502020204030203" pitchFamily="34" charset="0"/>
                <a:ea typeface="Calibri" panose="020F0502020204030204" pitchFamily="34" charset="0"/>
              </a:rPr>
              <a:t>5: Verificar la fecha.</a:t>
            </a:r>
            <a:r>
              <a:rPr lang="es-AR" sz="1000" dirty="0">
                <a:solidFill>
                  <a:srgbClr val="002060"/>
                </a:solidFill>
                <a:effectLst/>
                <a:latin typeface="Lato" panose="020F0502020204030203" pitchFamily="34" charset="0"/>
                <a:ea typeface="Calibri" panose="020F0502020204030204" pitchFamily="34" charset="0"/>
              </a:rPr>
              <a:t> Llama a las funciones</a:t>
            </a:r>
            <a:r>
              <a:rPr lang="es-AR" sz="1000" b="1" dirty="0">
                <a:solidFill>
                  <a:srgbClr val="002060"/>
                </a:solidFill>
                <a:effectLst/>
                <a:latin typeface="Lato" panose="020F0502020204030203" pitchFamily="34" charset="0"/>
                <a:ea typeface="Calibri" panose="020F0502020204030204" pitchFamily="34" charset="0"/>
              </a:rPr>
              <a:t> esFechaValida ()</a:t>
            </a:r>
            <a:r>
              <a:rPr lang="es-AR" sz="1000" dirty="0">
                <a:solidFill>
                  <a:srgbClr val="002060"/>
                </a:solidFill>
                <a:effectLst/>
                <a:latin typeface="Lato" panose="020F0502020204030203" pitchFamily="34" charset="0"/>
                <a:ea typeface="Calibri" panose="020F0502020204030204" pitchFamily="34" charset="0"/>
              </a:rPr>
              <a:t> y </a:t>
            </a:r>
            <a:r>
              <a:rPr lang="es-AR" sz="1000" b="1" dirty="0">
                <a:solidFill>
                  <a:srgbClr val="002060"/>
                </a:solidFill>
                <a:effectLst/>
                <a:latin typeface="Lato" panose="020F0502020204030203" pitchFamily="34" charset="0"/>
                <a:ea typeface="Calibri" panose="020F0502020204030204" pitchFamily="34" charset="0"/>
              </a:rPr>
              <a:t>esDentroDelRango ().</a:t>
            </a:r>
            <a:r>
              <a:rPr lang="es-AR" sz="1000" dirty="0">
                <a:solidFill>
                  <a:srgbClr val="002060"/>
                </a:solidFill>
                <a:effectLst/>
                <a:latin typeface="Lato" panose="020F0502020204030203" pitchFamily="34" charset="0"/>
                <a:ea typeface="Calibri" panose="020F0502020204030204" pitchFamily="34" charset="0"/>
              </a:rPr>
              <a:t> Esta última es la clave: revisa si la fecha de vencimiento del cheque (vencimientoCheque) está entre </a:t>
            </a:r>
            <a:r>
              <a:rPr lang="es-AR" sz="1000" b="1" dirty="0">
                <a:solidFill>
                  <a:srgbClr val="002060"/>
                </a:solidFill>
                <a:effectLst/>
                <a:latin typeface="Lato" panose="020F0502020204030203" pitchFamily="34" charset="0"/>
                <a:ea typeface="Calibri" panose="020F0502020204030204" pitchFamily="34" charset="0"/>
              </a:rPr>
              <a:t>hoy y los próximos 6 días</a:t>
            </a:r>
            <a:r>
              <a:rPr lang="es-AR" sz="1000" dirty="0">
                <a:solidFill>
                  <a:srgbClr val="002060"/>
                </a:solidFill>
                <a:effectLst/>
                <a:latin typeface="Lato" panose="020F0502020204030203" pitchFamily="34" charset="0"/>
                <a:ea typeface="Calibri" panose="020F0502020204030204" pitchFamily="34" charset="0"/>
              </a:rPr>
              <a:t>. Si se cumple esta condición, el cheque necesita un recordatorio.</a:t>
            </a:r>
            <a:endParaRPr lang="es-AR" sz="10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000" b="1" dirty="0">
                <a:solidFill>
                  <a:srgbClr val="002060"/>
                </a:solidFill>
                <a:effectLst/>
                <a:latin typeface="Lato" panose="020F0502020204030203" pitchFamily="34" charset="0"/>
                <a:ea typeface="Calibri" panose="020F0502020204030204" pitchFamily="34" charset="0"/>
              </a:rPr>
              <a:t>6: Enviar el correo.</a:t>
            </a:r>
            <a:r>
              <a:rPr lang="es-AR" sz="1000" dirty="0">
                <a:solidFill>
                  <a:srgbClr val="002060"/>
                </a:solidFill>
                <a:effectLst/>
                <a:latin typeface="Lato" panose="020F0502020204030203" pitchFamily="34" charset="0"/>
                <a:ea typeface="Calibri" panose="020F0502020204030204" pitchFamily="34" charset="0"/>
              </a:rPr>
              <a:t> Si la condición anterior es verdadera, recorre la lista de usuarios definida al inicio del código </a:t>
            </a:r>
            <a:r>
              <a:rPr lang="es-AR" sz="1000" b="1" dirty="0">
                <a:solidFill>
                  <a:srgbClr val="002060"/>
                </a:solidFill>
                <a:effectLst/>
                <a:latin typeface="Lato" panose="020F0502020204030203" pitchFamily="34" charset="0"/>
                <a:ea typeface="Calibri" panose="020F0502020204030204" pitchFamily="34" charset="0"/>
              </a:rPr>
              <a:t>(usuariosCorreos)</a:t>
            </a:r>
            <a:r>
              <a:rPr lang="es-AR" sz="1000" dirty="0">
                <a:solidFill>
                  <a:srgbClr val="002060"/>
                </a:solidFill>
                <a:effectLst/>
                <a:latin typeface="Lato" panose="020F0502020204030203" pitchFamily="34" charset="0"/>
                <a:ea typeface="Calibri" panose="020F0502020204030204" pitchFamily="34" charset="0"/>
              </a:rPr>
              <a:t>. Por cada usuario, llama a la función </a:t>
            </a:r>
            <a:r>
              <a:rPr lang="es-AR" sz="1000" b="1" dirty="0">
                <a:solidFill>
                  <a:srgbClr val="002060"/>
                </a:solidFill>
                <a:effectLst/>
                <a:latin typeface="Lato" panose="020F0502020204030203" pitchFamily="34" charset="0"/>
                <a:ea typeface="Calibri" panose="020F0502020204030204" pitchFamily="34" charset="0"/>
              </a:rPr>
              <a:t>enviarCorreoHTML ()</a:t>
            </a:r>
            <a:r>
              <a:rPr lang="es-AR" sz="1000" dirty="0">
                <a:solidFill>
                  <a:srgbClr val="002060"/>
                </a:solidFill>
                <a:effectLst/>
                <a:latin typeface="Lato" panose="020F0502020204030203" pitchFamily="34" charset="0"/>
                <a:ea typeface="Calibri" panose="020F0502020204030204" pitchFamily="34" charset="0"/>
              </a:rPr>
              <a:t> para crear y enviar el mensaje</a:t>
            </a:r>
            <a:endParaRPr lang="es-AR" sz="1000" dirty="0">
              <a:solidFill>
                <a:srgbClr val="002060"/>
              </a:solidFill>
            </a:endParaRPr>
          </a:p>
        </p:txBody>
      </p:sp>
      <p:pic>
        <p:nvPicPr>
          <p:cNvPr id="14" name="Imagen 13">
            <a:extLst>
              <a:ext uri="{FF2B5EF4-FFF2-40B4-BE49-F238E27FC236}">
                <a16:creationId xmlns:a16="http://schemas.microsoft.com/office/drawing/2014/main" id="{0597E84C-F05D-EDFA-9240-B96A70F846B6}"/>
              </a:ext>
            </a:extLst>
          </p:cNvPr>
          <p:cNvPicPr>
            <a:picLocks noChangeAspect="1"/>
          </p:cNvPicPr>
          <p:nvPr/>
        </p:nvPicPr>
        <p:blipFill>
          <a:blip r:embed="rId2"/>
          <a:stretch>
            <a:fillRect/>
          </a:stretch>
        </p:blipFill>
        <p:spPr>
          <a:xfrm>
            <a:off x="4417639" y="865572"/>
            <a:ext cx="4718740" cy="5464448"/>
          </a:xfrm>
          <a:prstGeom prst="rect">
            <a:avLst/>
          </a:prstGeom>
        </p:spPr>
      </p:pic>
    </p:spTree>
    <p:extLst>
      <p:ext uri="{BB962C8B-B14F-4D97-AF65-F5344CB8AC3E}">
        <p14:creationId xmlns:p14="http://schemas.microsoft.com/office/powerpoint/2010/main" val="4178958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981CB00-9367-7567-EA71-D41F1F7DDF70}"/>
              </a:ext>
            </a:extLst>
          </p:cNvPr>
          <p:cNvSpPr txBox="1"/>
          <p:nvPr/>
        </p:nvSpPr>
        <p:spPr>
          <a:xfrm>
            <a:off x="293162" y="2254926"/>
            <a:ext cx="3906174" cy="2849947"/>
          </a:xfrm>
          <a:prstGeom prst="rect">
            <a:avLst/>
          </a:prstGeom>
          <a:noFill/>
        </p:spPr>
        <p:txBody>
          <a:bodyPr wrap="square">
            <a:spAutoFit/>
          </a:bodyPr>
          <a:lstStyle/>
          <a:p>
            <a:pPr>
              <a:lnSpc>
                <a:spcPct val="107000"/>
              </a:lnSpc>
              <a:spcAft>
                <a:spcPts val="800"/>
              </a:spcAft>
              <a:buNone/>
            </a:pPr>
            <a:r>
              <a:rPr lang="es-AR" sz="1200" dirty="0">
                <a:solidFill>
                  <a:srgbClr val="002060"/>
                </a:solidFill>
                <a:effectLst/>
                <a:latin typeface="Lato" panose="020F0502020204030203" pitchFamily="34" charset="0"/>
                <a:ea typeface="Calibri" panose="020F0502020204030204" pitchFamily="34" charset="0"/>
              </a:rPr>
              <a:t>Esta función se encarga de </a:t>
            </a:r>
            <a:r>
              <a:rPr lang="es-AR" sz="1200" b="1" dirty="0">
                <a:solidFill>
                  <a:srgbClr val="002060"/>
                </a:solidFill>
                <a:effectLst/>
                <a:latin typeface="Lato" panose="020F0502020204030203" pitchFamily="34" charset="0"/>
                <a:ea typeface="Calibri" panose="020F0502020204030204" pitchFamily="34" charset="0"/>
              </a:rPr>
              <a:t>formatear y enviar el correo electrónico</a:t>
            </a:r>
            <a:r>
              <a:rPr lang="es-AR" sz="1200" dirty="0">
                <a:solidFill>
                  <a:srgbClr val="002060"/>
                </a:solidFill>
                <a:effectLst/>
                <a:latin typeface="Lato" panose="020F0502020204030203" pitchFamily="34" charset="0"/>
                <a:ea typeface="Calibri" panose="020F0502020204030204" pitchFamily="34" charset="0"/>
              </a:rPr>
              <a:t>. El correo se envía tanto como a usuarios internos de modo de aviso de que fue enviado como al correo insertado por el usuario de esa forma se avisa al propietario que su cheque esta por vencer y a los empleados de irrigación que este correo fue enviado.</a:t>
            </a:r>
            <a:endParaRPr lang="es-AR" sz="12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200" b="1" dirty="0">
                <a:solidFill>
                  <a:srgbClr val="002060"/>
                </a:solidFill>
                <a:effectLst/>
                <a:latin typeface="Lato" panose="020F0502020204030203" pitchFamily="34" charset="0"/>
                <a:ea typeface="Calibri" panose="020F0502020204030204" pitchFamily="34" charset="0"/>
              </a:rPr>
              <a:t>Paso 1: Formatear la fecha.</a:t>
            </a:r>
            <a:r>
              <a:rPr lang="es-AR" sz="1200" dirty="0">
                <a:solidFill>
                  <a:srgbClr val="002060"/>
                </a:solidFill>
                <a:effectLst/>
                <a:latin typeface="Lato" panose="020F0502020204030203" pitchFamily="34" charset="0"/>
                <a:ea typeface="Calibri" panose="020F0502020204030204" pitchFamily="34" charset="0"/>
              </a:rPr>
              <a:t> Toma la fecha de vencimiento y la convierte a un formato más legible (DD/MM/AAAA).</a:t>
            </a:r>
            <a:endParaRPr lang="es-AR" sz="1200" dirty="0">
              <a:solidFill>
                <a:srgbClr val="002060"/>
              </a:solidFill>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200" b="1" dirty="0">
                <a:solidFill>
                  <a:srgbClr val="002060"/>
                </a:solidFill>
                <a:effectLst/>
                <a:latin typeface="Lato" panose="020F0502020204030203" pitchFamily="34" charset="0"/>
                <a:ea typeface="Calibri" panose="020F0502020204030204" pitchFamily="34" charset="0"/>
              </a:rPr>
              <a:t>Paso 2: Construir el cuerpo HTML.</a:t>
            </a:r>
            <a:r>
              <a:rPr lang="es-AR" sz="1200" dirty="0">
                <a:solidFill>
                  <a:srgbClr val="002060"/>
                </a:solidFill>
                <a:effectLst/>
                <a:latin typeface="Lato" panose="020F0502020204030203" pitchFamily="34" charset="0"/>
                <a:ea typeface="Calibri" panose="020F0502020204030204" pitchFamily="34" charset="0"/>
              </a:rPr>
              <a:t> Usa una plantilla de texto (cont. mensaje HTML) para crear un correo visualmente atractivo con tablas</a:t>
            </a:r>
            <a:r>
              <a:rPr lang="es-AR" sz="1200" dirty="0">
                <a:solidFill>
                  <a:srgbClr val="002060"/>
                </a:solidFill>
                <a:latin typeface="Lato" panose="020F0502020204030203" pitchFamily="34" charset="0"/>
                <a:ea typeface="Calibri" panose="020F0502020204030204" pitchFamily="34" charset="0"/>
              </a:rPr>
              <a:t> y </a:t>
            </a:r>
            <a:r>
              <a:rPr lang="es-AR" sz="1200" dirty="0">
                <a:solidFill>
                  <a:srgbClr val="002060"/>
                </a:solidFill>
                <a:effectLst/>
                <a:latin typeface="Lato" panose="020F0502020204030203" pitchFamily="34" charset="0"/>
                <a:ea typeface="Calibri" panose="020F0502020204030204" pitchFamily="34" charset="0"/>
              </a:rPr>
              <a:t>estilos </a:t>
            </a:r>
          </a:p>
        </p:txBody>
      </p:sp>
      <p:pic>
        <p:nvPicPr>
          <p:cNvPr id="5" name="Imagen 4">
            <a:extLst>
              <a:ext uri="{FF2B5EF4-FFF2-40B4-BE49-F238E27FC236}">
                <a16:creationId xmlns:a16="http://schemas.microsoft.com/office/drawing/2014/main" id="{B06184F2-C5DE-3710-CA4C-DC35893DFB1C}"/>
              </a:ext>
            </a:extLst>
          </p:cNvPr>
          <p:cNvPicPr>
            <a:picLocks noChangeAspect="1"/>
          </p:cNvPicPr>
          <p:nvPr/>
        </p:nvPicPr>
        <p:blipFill>
          <a:blip r:embed="rId2"/>
          <a:stretch>
            <a:fillRect/>
          </a:stretch>
        </p:blipFill>
        <p:spPr>
          <a:xfrm>
            <a:off x="4403324" y="1091951"/>
            <a:ext cx="4518536" cy="5370637"/>
          </a:xfrm>
          <a:prstGeom prst="rect">
            <a:avLst/>
          </a:prstGeom>
        </p:spPr>
      </p:pic>
      <p:sp>
        <p:nvSpPr>
          <p:cNvPr id="7" name="CuadroTexto 6">
            <a:extLst>
              <a:ext uri="{FF2B5EF4-FFF2-40B4-BE49-F238E27FC236}">
                <a16:creationId xmlns:a16="http://schemas.microsoft.com/office/drawing/2014/main" id="{4ABA2F39-F4D7-BA11-1A1D-CE18C1A182D1}"/>
              </a:ext>
            </a:extLst>
          </p:cNvPr>
          <p:cNvSpPr txBox="1"/>
          <p:nvPr/>
        </p:nvSpPr>
        <p:spPr>
          <a:xfrm>
            <a:off x="2734322" y="501494"/>
            <a:ext cx="4580876" cy="373051"/>
          </a:xfrm>
          <a:prstGeom prst="rect">
            <a:avLst/>
          </a:prstGeom>
          <a:noFill/>
        </p:spPr>
        <p:txBody>
          <a:bodyPr wrap="square">
            <a:spAutoFit/>
          </a:bodyPr>
          <a:lstStyle/>
          <a:p>
            <a:pPr>
              <a:lnSpc>
                <a:spcPct val="107000"/>
              </a:lnSpc>
              <a:spcAft>
                <a:spcPts val="800"/>
              </a:spcAft>
              <a:buNone/>
            </a:pPr>
            <a:r>
              <a:rPr lang="es-AR" sz="1800" b="1" dirty="0">
                <a:solidFill>
                  <a:srgbClr val="FF0000"/>
                </a:solidFill>
                <a:effectLst/>
                <a:latin typeface="Lato" panose="020F0502020204030203" pitchFamily="34" charset="0"/>
                <a:ea typeface="Calibri" panose="020F0502020204030204" pitchFamily="34" charset="0"/>
              </a:rPr>
              <a:t>2. enviarCorreoHTML () </a:t>
            </a:r>
            <a:r>
              <a:rPr lang="es-AR" sz="1800" b="1" dirty="0">
                <a:solidFill>
                  <a:srgbClr val="FF0000"/>
                </a:solidFill>
                <a:effectLst/>
                <a:latin typeface="Segoe UI Emoji" panose="020B0502040204020203" pitchFamily="34" charset="0"/>
                <a:ea typeface="Calibri" panose="020F0502020204030204" pitchFamily="34" charset="0"/>
                <a:cs typeface="Segoe UI Emoji" panose="020B0502040204020203" pitchFamily="34" charset="0"/>
              </a:rPr>
              <a:t>🎨</a:t>
            </a:r>
            <a:endParaRPr lang="es-AR" sz="1800" dirty="0">
              <a:solidFill>
                <a:srgbClr val="FF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653316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260525E-29FD-A14E-F0F1-DA20AB79717E}"/>
              </a:ext>
            </a:extLst>
          </p:cNvPr>
          <p:cNvPicPr>
            <a:picLocks noChangeAspect="1"/>
          </p:cNvPicPr>
          <p:nvPr/>
        </p:nvPicPr>
        <p:blipFill>
          <a:blip r:embed="rId2"/>
          <a:stretch>
            <a:fillRect/>
          </a:stretch>
        </p:blipFill>
        <p:spPr>
          <a:xfrm>
            <a:off x="3897575" y="546453"/>
            <a:ext cx="5246425" cy="5995914"/>
          </a:xfrm>
          <a:prstGeom prst="rect">
            <a:avLst/>
          </a:prstGeom>
        </p:spPr>
      </p:pic>
      <p:sp>
        <p:nvSpPr>
          <p:cNvPr id="5" name="CuadroTexto 4">
            <a:extLst>
              <a:ext uri="{FF2B5EF4-FFF2-40B4-BE49-F238E27FC236}">
                <a16:creationId xmlns:a16="http://schemas.microsoft.com/office/drawing/2014/main" id="{C5E00E9D-2C37-A246-AE10-64460B43F264}"/>
              </a:ext>
            </a:extLst>
          </p:cNvPr>
          <p:cNvSpPr txBox="1"/>
          <p:nvPr/>
        </p:nvSpPr>
        <p:spPr>
          <a:xfrm>
            <a:off x="0" y="1579026"/>
            <a:ext cx="3764132" cy="3341492"/>
          </a:xfrm>
          <a:prstGeom prst="rect">
            <a:avLst/>
          </a:prstGeom>
          <a:noFill/>
        </p:spPr>
        <p:txBody>
          <a:bodyPr wrap="square">
            <a:spAutoFit/>
          </a:bodyPr>
          <a:lstStyle/>
          <a:p>
            <a:pPr marL="347472" indent="-347472" algn="l" rtl="0" eaLnBrk="1" latinLnBrk="0" hangingPunct="1">
              <a:lnSpc>
                <a:spcPct val="107000"/>
              </a:lnSpc>
              <a:spcAft>
                <a:spcPts val="800"/>
              </a:spcAft>
              <a:buClrTx/>
              <a:buSzPts val="1000"/>
              <a:buFont typeface="Symbol" panose="05050102010706020507" pitchFamily="18" charset="2"/>
              <a:buChar char="·"/>
              <a:tabLst>
                <a:tab pos="457200" algn="l"/>
              </a:tabLst>
            </a:pPr>
            <a:r>
              <a:rPr lang="es-AR" sz="1600" b="1" kern="1200" dirty="0">
                <a:solidFill>
                  <a:srgbClr val="002060"/>
                </a:solidFill>
                <a:effectLst/>
                <a:latin typeface="Lato" panose="020F0502020204030203" pitchFamily="34" charset="0"/>
                <a:ea typeface="Calibri" panose="020F0502020204030204" pitchFamily="34" charset="0"/>
                <a:cs typeface="+mn-cs"/>
              </a:rPr>
              <a:t>Paso 3: Enviar el mensaje.</a:t>
            </a:r>
            <a:r>
              <a:rPr lang="es-AR" sz="1600" kern="1200" dirty="0">
                <a:solidFill>
                  <a:srgbClr val="002060"/>
                </a:solidFill>
                <a:effectLst/>
                <a:latin typeface="Lato" panose="020F0502020204030203" pitchFamily="34" charset="0"/>
                <a:ea typeface="Calibri" panose="020F0502020204030204" pitchFamily="34" charset="0"/>
                <a:cs typeface="+mn-cs"/>
              </a:rPr>
              <a:t> Utiliza el servicio MailApp.sendEmail() de Google para enviar el correo. Le pasa el correo del destinatario, el asunto (asunto) y el cuerpo en formato </a:t>
            </a:r>
            <a:r>
              <a:rPr lang="es-AR" sz="1600" b="1" kern="1200" dirty="0">
                <a:solidFill>
                  <a:srgbClr val="002060"/>
                </a:solidFill>
                <a:effectLst/>
                <a:latin typeface="Lato" panose="020F0502020204030203" pitchFamily="34" charset="0"/>
                <a:ea typeface="Calibri" panose="020F0502020204030204" pitchFamily="34" charset="0"/>
                <a:cs typeface="+mn-cs"/>
              </a:rPr>
              <a:t>HTML (htmlBody).</a:t>
            </a:r>
            <a:endParaRPr lang="es-AR" sz="1600" dirty="0">
              <a:effectLst/>
            </a:endParaRPr>
          </a:p>
          <a:p>
            <a:pPr marL="347472" indent="-347472" algn="l" rtl="0" eaLnBrk="1" latinLnBrk="0" hangingPunct="1">
              <a:lnSpc>
                <a:spcPct val="107000"/>
              </a:lnSpc>
              <a:spcAft>
                <a:spcPts val="800"/>
              </a:spcAft>
              <a:buFont typeface="Arial" panose="020B0604020202020204" pitchFamily="34" charset="0"/>
              <a:buChar char="•"/>
              <a:tabLst>
                <a:tab pos="457200" algn="l"/>
              </a:tabLst>
            </a:pPr>
            <a:r>
              <a:rPr lang="es-AR" sz="1600" b="1" kern="1200" dirty="0">
                <a:solidFill>
                  <a:srgbClr val="002060"/>
                </a:solidFill>
                <a:effectLst/>
                <a:latin typeface="Lato" panose="020F0502020204030203" pitchFamily="34" charset="0"/>
                <a:ea typeface="Calibri" panose="020F0502020204030204" pitchFamily="34" charset="0"/>
                <a:cs typeface="+mn-cs"/>
              </a:rPr>
              <a:t>Paso 4: Marcar como enviado.</a:t>
            </a:r>
            <a:r>
              <a:rPr lang="es-AR" sz="1600" kern="1200" dirty="0">
                <a:solidFill>
                  <a:srgbClr val="002060"/>
                </a:solidFill>
                <a:effectLst/>
                <a:latin typeface="Lato" panose="020F0502020204030203" pitchFamily="34" charset="0"/>
                <a:ea typeface="Calibri" panose="020F0502020204030204" pitchFamily="34" charset="0"/>
                <a:cs typeface="+mn-cs"/>
              </a:rPr>
              <a:t> Una vez que el correo se envía con éxito, actualiza el estado de la fila a </a:t>
            </a:r>
            <a:r>
              <a:rPr lang="es-AR" sz="1600" b="1" kern="1200" dirty="0">
                <a:solidFill>
                  <a:srgbClr val="002060"/>
                </a:solidFill>
                <a:effectLst/>
                <a:latin typeface="Lato" panose="020F0502020204030203" pitchFamily="34" charset="0"/>
                <a:ea typeface="Calibri" panose="020F0502020204030204" pitchFamily="34" charset="0"/>
                <a:cs typeface="+mn-cs"/>
              </a:rPr>
              <a:t>"Correo Enviado"</a:t>
            </a:r>
            <a:r>
              <a:rPr lang="es-AR" sz="1600" kern="1200" dirty="0">
                <a:solidFill>
                  <a:srgbClr val="002060"/>
                </a:solidFill>
                <a:effectLst/>
                <a:latin typeface="Lato" panose="020F0502020204030203" pitchFamily="34" charset="0"/>
                <a:ea typeface="Calibri" panose="020F0502020204030204" pitchFamily="34" charset="0"/>
                <a:cs typeface="+mn-cs"/>
              </a:rPr>
              <a:t>. Esto evita que la próxima vez que se ejecute el script, se vuelva a enviar el mismo correo.</a:t>
            </a:r>
            <a:endParaRPr lang="es-AR" sz="1600" dirty="0">
              <a:effectLst/>
            </a:endParaRPr>
          </a:p>
        </p:txBody>
      </p:sp>
    </p:spTree>
    <p:extLst>
      <p:ext uri="{BB962C8B-B14F-4D97-AF65-F5344CB8AC3E}">
        <p14:creationId xmlns:p14="http://schemas.microsoft.com/office/powerpoint/2010/main" val="3367339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636EFD8-B63A-34E4-5D60-ECC9F687E6B6}"/>
              </a:ext>
            </a:extLst>
          </p:cNvPr>
          <p:cNvSpPr txBox="1"/>
          <p:nvPr/>
        </p:nvSpPr>
        <p:spPr>
          <a:xfrm>
            <a:off x="1553591" y="1463217"/>
            <a:ext cx="4580876" cy="1762534"/>
          </a:xfrm>
          <a:prstGeom prst="rect">
            <a:avLst/>
          </a:prstGeom>
          <a:noFill/>
        </p:spPr>
        <p:txBody>
          <a:bodyPr wrap="square">
            <a:spAutoFit/>
          </a:bodyPr>
          <a:lstStyle/>
          <a:p>
            <a:pPr marL="0" algn="l" rtl="0" eaLnBrk="1" latinLnBrk="0" hangingPunct="1">
              <a:lnSpc>
                <a:spcPct val="107000"/>
              </a:lnSpc>
              <a:spcAft>
                <a:spcPts val="800"/>
              </a:spcAft>
              <a:buNone/>
            </a:pPr>
            <a:r>
              <a:rPr lang="es-AR" sz="2000" kern="1200" dirty="0">
                <a:solidFill>
                  <a:srgbClr val="002060"/>
                </a:solidFill>
                <a:effectLst/>
                <a:latin typeface="Lato" panose="020F0502020204030203" pitchFamily="34" charset="0"/>
                <a:ea typeface="Calibri" panose="020F0502020204030204" pitchFamily="34" charset="0"/>
                <a:cs typeface="+mn-cs"/>
              </a:rPr>
              <a:t>Esta es </a:t>
            </a:r>
            <a:r>
              <a:rPr lang="es-AR" sz="2000" dirty="0">
                <a:solidFill>
                  <a:srgbClr val="002060"/>
                </a:solidFill>
                <a:latin typeface="Lato" panose="020F0502020204030203" pitchFamily="34" charset="0"/>
                <a:ea typeface="Calibri" panose="020F0502020204030204" pitchFamily="34" charset="0"/>
              </a:rPr>
              <a:t> una </a:t>
            </a:r>
            <a:r>
              <a:rPr lang="es-AR" sz="2000" b="1" kern="1200" dirty="0">
                <a:solidFill>
                  <a:srgbClr val="002060"/>
                </a:solidFill>
                <a:effectLst/>
                <a:latin typeface="Lato" panose="020F0502020204030203" pitchFamily="34" charset="0"/>
                <a:ea typeface="Calibri" panose="020F0502020204030204" pitchFamily="34" charset="0"/>
                <a:cs typeface="+mn-cs"/>
              </a:rPr>
              <a:t>función auxiliares</a:t>
            </a:r>
            <a:r>
              <a:rPr lang="es-AR" sz="2000" kern="1200" dirty="0">
                <a:solidFill>
                  <a:srgbClr val="002060"/>
                </a:solidFill>
                <a:effectLst/>
                <a:latin typeface="Lato" panose="020F0502020204030203" pitchFamily="34" charset="0"/>
                <a:ea typeface="Calibri" panose="020F0502020204030204" pitchFamily="34" charset="0"/>
                <a:cs typeface="+mn-cs"/>
              </a:rPr>
              <a:t> que ayuda a la función principal.</a:t>
            </a:r>
            <a:endParaRPr lang="es-AR" sz="2000" dirty="0">
              <a:effectLst/>
            </a:endParaRPr>
          </a:p>
          <a:p>
            <a:pPr marL="347472" indent="-347472" algn="l" rtl="0" eaLnBrk="1" latinLnBrk="0" hangingPunct="1">
              <a:lnSpc>
                <a:spcPct val="107000"/>
              </a:lnSpc>
              <a:spcAft>
                <a:spcPts val="800"/>
              </a:spcAft>
              <a:buNone/>
              <a:tabLst>
                <a:tab pos="457200" algn="l"/>
              </a:tabLst>
            </a:pPr>
            <a:r>
              <a:rPr lang="es-AR" sz="1400" b="1" kern="1200" dirty="0">
                <a:solidFill>
                  <a:srgbClr val="002060"/>
                </a:solidFill>
                <a:effectLst/>
                <a:latin typeface="Lato" panose="020F0502020204030203" pitchFamily="34" charset="0"/>
                <a:ea typeface="Calibri" panose="020F0502020204030204" pitchFamily="34" charset="0"/>
                <a:cs typeface="+mn-cs"/>
              </a:rPr>
              <a:t>esFechaValida ():</a:t>
            </a:r>
            <a:r>
              <a:rPr lang="es-AR" sz="1400" kern="1200" dirty="0">
                <a:solidFill>
                  <a:srgbClr val="002060"/>
                </a:solidFill>
                <a:effectLst/>
                <a:latin typeface="Lato" panose="020F0502020204030203" pitchFamily="34" charset="0"/>
                <a:ea typeface="Calibri" panose="020F0502020204030204" pitchFamily="34" charset="0"/>
                <a:cs typeface="+mn-cs"/>
              </a:rPr>
              <a:t> Simplemente verifica si el valor de la celda es una fecha válida. Esto previene errores si la columna de la fecha contiene texto u otro tipo de dato.</a:t>
            </a:r>
            <a:endParaRPr lang="es-AR" sz="1400" dirty="0">
              <a:effectLst/>
            </a:endParaRPr>
          </a:p>
        </p:txBody>
      </p:sp>
      <p:sp>
        <p:nvSpPr>
          <p:cNvPr id="5" name="CuadroTexto 4">
            <a:extLst>
              <a:ext uri="{FF2B5EF4-FFF2-40B4-BE49-F238E27FC236}">
                <a16:creationId xmlns:a16="http://schemas.microsoft.com/office/drawing/2014/main" id="{E94A0C83-7E88-80E2-588E-42634FAEDC94}"/>
              </a:ext>
            </a:extLst>
          </p:cNvPr>
          <p:cNvSpPr txBox="1"/>
          <p:nvPr/>
        </p:nvSpPr>
        <p:spPr>
          <a:xfrm>
            <a:off x="1553591" y="605325"/>
            <a:ext cx="6312024" cy="464999"/>
          </a:xfrm>
          <a:prstGeom prst="rect">
            <a:avLst/>
          </a:prstGeom>
          <a:noFill/>
        </p:spPr>
        <p:txBody>
          <a:bodyPr wrap="square">
            <a:spAutoFit/>
          </a:bodyPr>
          <a:lstStyle/>
          <a:p>
            <a:pPr marL="0" algn="l" rtl="0" eaLnBrk="1" latinLnBrk="0" hangingPunct="1">
              <a:lnSpc>
                <a:spcPct val="107000"/>
              </a:lnSpc>
              <a:spcAft>
                <a:spcPts val="800"/>
              </a:spcAft>
              <a:buNone/>
            </a:pPr>
            <a:r>
              <a:rPr lang="es-AR" sz="1800" b="1" kern="1200">
                <a:solidFill>
                  <a:srgbClr val="FF0000"/>
                </a:solidFill>
                <a:effectLst/>
                <a:latin typeface="Lato" panose="020F0502020204030203" pitchFamily="34" charset="0"/>
                <a:ea typeface="Calibri" panose="020F0502020204030204" pitchFamily="34" charset="0"/>
                <a:cs typeface="+mn-cs"/>
              </a:rPr>
              <a:t>3. </a:t>
            </a:r>
            <a:r>
              <a:rPr lang="es-AR" sz="2400" b="1" kern="1200">
                <a:solidFill>
                  <a:srgbClr val="FF0000"/>
                </a:solidFill>
                <a:effectLst/>
                <a:latin typeface="Lato" panose="020F0502020204030203" pitchFamily="34" charset="0"/>
                <a:ea typeface="Calibri" panose="020F0502020204030204" pitchFamily="34" charset="0"/>
                <a:cs typeface="+mn-cs"/>
              </a:rPr>
              <a:t>esFechaValida () </a:t>
            </a:r>
            <a:endParaRPr lang="es-AR" dirty="0">
              <a:solidFill>
                <a:srgbClr val="FF0000"/>
              </a:solidFill>
              <a:effectLst/>
            </a:endParaRPr>
          </a:p>
        </p:txBody>
      </p:sp>
      <p:sp>
        <p:nvSpPr>
          <p:cNvPr id="7" name="CuadroTexto 6">
            <a:extLst>
              <a:ext uri="{FF2B5EF4-FFF2-40B4-BE49-F238E27FC236}">
                <a16:creationId xmlns:a16="http://schemas.microsoft.com/office/drawing/2014/main" id="{978D7CF1-D121-6380-FB04-B18DFEC21492}"/>
              </a:ext>
            </a:extLst>
          </p:cNvPr>
          <p:cNvSpPr txBox="1"/>
          <p:nvPr/>
        </p:nvSpPr>
        <p:spPr>
          <a:xfrm>
            <a:off x="4065974" y="653158"/>
            <a:ext cx="4580876" cy="369332"/>
          </a:xfrm>
          <a:prstGeom prst="rect">
            <a:avLst/>
          </a:prstGeom>
          <a:noFill/>
        </p:spPr>
        <p:txBody>
          <a:bodyPr wrap="square">
            <a:spAutoFit/>
          </a:bodyPr>
          <a:lstStyle/>
          <a:p>
            <a:r>
              <a:rPr lang="es-AR" sz="1800" b="1" kern="1200" dirty="0">
                <a:solidFill>
                  <a:srgbClr val="FF0000"/>
                </a:solidFill>
                <a:effectLst/>
                <a:latin typeface="Lato" panose="020F0502020204030203" pitchFamily="34" charset="0"/>
                <a:ea typeface="Calibri" panose="020F0502020204030204" pitchFamily="34" charset="0"/>
                <a:cs typeface="+mn-cs"/>
              </a:rPr>
              <a:t> </a:t>
            </a:r>
            <a:r>
              <a:rPr lang="es-AR" sz="1800" b="1" kern="1200" dirty="0">
                <a:solidFill>
                  <a:srgbClr val="FF0000"/>
                </a:solidFill>
                <a:effectLst/>
                <a:latin typeface="Calibri" panose="020F0502020204030204" pitchFamily="34" charset="0"/>
                <a:ea typeface="Calibri" panose="020F0502020204030204" pitchFamily="34" charset="0"/>
                <a:cs typeface="Segoe UI Emoji" panose="020B0502040204020203" pitchFamily="34" charset="0"/>
              </a:rPr>
              <a:t>📅</a:t>
            </a:r>
            <a:endParaRPr lang="es-AR" dirty="0"/>
          </a:p>
        </p:txBody>
      </p:sp>
      <p:pic>
        <p:nvPicPr>
          <p:cNvPr id="9" name="Imagen 8">
            <a:extLst>
              <a:ext uri="{FF2B5EF4-FFF2-40B4-BE49-F238E27FC236}">
                <a16:creationId xmlns:a16="http://schemas.microsoft.com/office/drawing/2014/main" id="{FE9B775F-40BA-1DBE-F4F6-5730B168C86B}"/>
              </a:ext>
            </a:extLst>
          </p:cNvPr>
          <p:cNvPicPr>
            <a:picLocks noChangeAspect="1"/>
          </p:cNvPicPr>
          <p:nvPr/>
        </p:nvPicPr>
        <p:blipFill>
          <a:blip r:embed="rId2"/>
          <a:srcRect t="13217" r="32720"/>
          <a:stretch>
            <a:fillRect/>
          </a:stretch>
        </p:blipFill>
        <p:spPr>
          <a:xfrm>
            <a:off x="1180418" y="3666478"/>
            <a:ext cx="6783164" cy="2120717"/>
          </a:xfrm>
          <a:prstGeom prst="rect">
            <a:avLst/>
          </a:prstGeom>
        </p:spPr>
      </p:pic>
    </p:spTree>
    <p:extLst>
      <p:ext uri="{BB962C8B-B14F-4D97-AF65-F5344CB8AC3E}">
        <p14:creationId xmlns:p14="http://schemas.microsoft.com/office/powerpoint/2010/main" val="2024257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791285B-3ABF-0E4C-9A79-617833F06A71}"/>
              </a:ext>
            </a:extLst>
          </p:cNvPr>
          <p:cNvSpPr txBox="1"/>
          <p:nvPr/>
        </p:nvSpPr>
        <p:spPr>
          <a:xfrm>
            <a:off x="1402673" y="1435954"/>
            <a:ext cx="5282212" cy="1993046"/>
          </a:xfrm>
          <a:prstGeom prst="rect">
            <a:avLst/>
          </a:prstGeom>
          <a:noFill/>
        </p:spPr>
        <p:txBody>
          <a:bodyPr wrap="square">
            <a:spAutoFit/>
          </a:bodyPr>
          <a:lstStyle/>
          <a:p>
            <a:pPr marL="347472">
              <a:lnSpc>
                <a:spcPct val="107000"/>
              </a:lnSpc>
              <a:spcAft>
                <a:spcPts val="800"/>
              </a:spcAft>
              <a:tabLst>
                <a:tab pos="457200" algn="l"/>
              </a:tabLst>
            </a:pPr>
            <a:r>
              <a:rPr lang="es-AR" sz="2000" dirty="0">
                <a:solidFill>
                  <a:srgbClr val="002060"/>
                </a:solidFill>
                <a:latin typeface="Lato" panose="020F0502020204030203" pitchFamily="34" charset="0"/>
                <a:ea typeface="Calibri" panose="020F0502020204030204" pitchFamily="34" charset="0"/>
              </a:rPr>
              <a:t>Esta es  una </a:t>
            </a:r>
            <a:r>
              <a:rPr lang="es-AR" sz="2000" b="1" dirty="0">
                <a:solidFill>
                  <a:srgbClr val="002060"/>
                </a:solidFill>
                <a:latin typeface="Lato" panose="020F0502020204030203" pitchFamily="34" charset="0"/>
                <a:ea typeface="Calibri" panose="020F0502020204030204" pitchFamily="34" charset="0"/>
              </a:rPr>
              <a:t>función auxiliares</a:t>
            </a:r>
            <a:r>
              <a:rPr lang="es-AR" sz="2000" dirty="0">
                <a:solidFill>
                  <a:srgbClr val="002060"/>
                </a:solidFill>
                <a:latin typeface="Lato" panose="020F0502020204030203" pitchFamily="34" charset="0"/>
                <a:ea typeface="Calibri" panose="020F0502020204030204" pitchFamily="34" charset="0"/>
              </a:rPr>
              <a:t> que ayuda a la función principal.</a:t>
            </a:r>
            <a:endParaRPr lang="es-AR" sz="2000" b="1" kern="1200" dirty="0">
              <a:solidFill>
                <a:srgbClr val="002060"/>
              </a:solidFill>
              <a:effectLst/>
              <a:latin typeface="Lato" panose="020F0502020204030203" pitchFamily="34" charset="0"/>
              <a:ea typeface="Calibri" panose="020F0502020204030204" pitchFamily="34" charset="0"/>
              <a:cs typeface="+mn-cs"/>
            </a:endParaRPr>
          </a:p>
          <a:p>
            <a:pPr marL="347472" indent="-347472" algn="l" rtl="0" eaLnBrk="1" latinLnBrk="0" hangingPunct="1">
              <a:lnSpc>
                <a:spcPct val="107000"/>
              </a:lnSpc>
              <a:spcAft>
                <a:spcPts val="800"/>
              </a:spcAft>
              <a:buNone/>
              <a:tabLst>
                <a:tab pos="457200" algn="l"/>
              </a:tabLst>
            </a:pPr>
            <a:r>
              <a:rPr lang="es-AR" sz="1400" b="1" kern="1200" dirty="0">
                <a:solidFill>
                  <a:srgbClr val="002060"/>
                </a:solidFill>
                <a:effectLst/>
                <a:latin typeface="Lato" panose="020F0502020204030203" pitchFamily="34" charset="0"/>
                <a:ea typeface="Calibri" panose="020F0502020204030204" pitchFamily="34" charset="0"/>
                <a:cs typeface="+mn-cs"/>
              </a:rPr>
              <a:t>esDentroDelRango ():</a:t>
            </a:r>
            <a:r>
              <a:rPr lang="es-AR" sz="1400" kern="1200" dirty="0">
                <a:solidFill>
                  <a:srgbClr val="002060"/>
                </a:solidFill>
                <a:effectLst/>
                <a:latin typeface="Lato" panose="020F0502020204030203" pitchFamily="34" charset="0"/>
                <a:ea typeface="Calibri" panose="020F0502020204030204" pitchFamily="34" charset="0"/>
                <a:cs typeface="+mn-cs"/>
              </a:rPr>
              <a:t> Es la lógica central para la notificación. Calcula la diferencia en días entre la fecha de vencimiento y la fecha actual. Devuelve true si la diferencia es mayor o igual a 0 (la fecha no ha pasado) y menor o igual al número de días que definiste (6).</a:t>
            </a:r>
            <a:endParaRPr lang="es-AR" sz="1400" dirty="0">
              <a:effectLst/>
            </a:endParaRPr>
          </a:p>
        </p:txBody>
      </p:sp>
      <p:sp>
        <p:nvSpPr>
          <p:cNvPr id="5" name="CuadroTexto 4">
            <a:extLst>
              <a:ext uri="{FF2B5EF4-FFF2-40B4-BE49-F238E27FC236}">
                <a16:creationId xmlns:a16="http://schemas.microsoft.com/office/drawing/2014/main" id="{6403D972-13B5-FD45-9621-96F7F5748496}"/>
              </a:ext>
            </a:extLst>
          </p:cNvPr>
          <p:cNvSpPr txBox="1"/>
          <p:nvPr/>
        </p:nvSpPr>
        <p:spPr>
          <a:xfrm>
            <a:off x="1402673" y="664608"/>
            <a:ext cx="4580876" cy="400110"/>
          </a:xfrm>
          <a:prstGeom prst="rect">
            <a:avLst/>
          </a:prstGeom>
          <a:noFill/>
        </p:spPr>
        <p:txBody>
          <a:bodyPr wrap="square">
            <a:spAutoFit/>
          </a:bodyPr>
          <a:lstStyle/>
          <a:p>
            <a:r>
              <a:rPr lang="es-AR" sz="2000" b="1" kern="1200" dirty="0">
                <a:solidFill>
                  <a:srgbClr val="FF0000"/>
                </a:solidFill>
                <a:effectLst/>
                <a:latin typeface="Lato" panose="020F0502020204030203" pitchFamily="34" charset="0"/>
                <a:ea typeface="Calibri" panose="020F0502020204030204" pitchFamily="34" charset="0"/>
                <a:cs typeface="+mn-cs"/>
              </a:rPr>
              <a:t>4.esDentroDelRango</a:t>
            </a:r>
            <a:endParaRPr lang="es-AR" sz="2000" dirty="0"/>
          </a:p>
        </p:txBody>
      </p:sp>
      <p:sp>
        <p:nvSpPr>
          <p:cNvPr id="7" name="CuadroTexto 6">
            <a:extLst>
              <a:ext uri="{FF2B5EF4-FFF2-40B4-BE49-F238E27FC236}">
                <a16:creationId xmlns:a16="http://schemas.microsoft.com/office/drawing/2014/main" id="{69A5CF53-89B7-F83D-33AD-D36F73C2D6C5}"/>
              </a:ext>
            </a:extLst>
          </p:cNvPr>
          <p:cNvSpPr txBox="1"/>
          <p:nvPr/>
        </p:nvSpPr>
        <p:spPr>
          <a:xfrm>
            <a:off x="3693111" y="695386"/>
            <a:ext cx="4580876" cy="369332"/>
          </a:xfrm>
          <a:prstGeom prst="rect">
            <a:avLst/>
          </a:prstGeom>
          <a:noFill/>
        </p:spPr>
        <p:txBody>
          <a:bodyPr wrap="square">
            <a:spAutoFit/>
          </a:bodyPr>
          <a:lstStyle/>
          <a:p>
            <a:r>
              <a:rPr lang="es-AR" sz="1800" b="1" kern="1200" dirty="0">
                <a:solidFill>
                  <a:srgbClr val="FF0000"/>
                </a:solidFill>
                <a:effectLst/>
                <a:latin typeface="Lato" panose="020F0502020204030203" pitchFamily="34" charset="0"/>
                <a:ea typeface="Calibri" panose="020F0502020204030204" pitchFamily="34" charset="0"/>
                <a:cs typeface="+mn-cs"/>
              </a:rPr>
              <a:t>  () </a:t>
            </a:r>
            <a:r>
              <a:rPr lang="es-AR" sz="1800" b="1" kern="1200" dirty="0">
                <a:solidFill>
                  <a:srgbClr val="FF0000"/>
                </a:solidFill>
                <a:effectLst/>
                <a:latin typeface="Calibri" panose="020F0502020204030204" pitchFamily="34" charset="0"/>
                <a:ea typeface="Calibri" panose="020F0502020204030204" pitchFamily="34" charset="0"/>
                <a:cs typeface="Segoe UI Emoji" panose="020B0502040204020203" pitchFamily="34" charset="0"/>
              </a:rPr>
              <a:t>📅</a:t>
            </a:r>
            <a:endParaRPr lang="es-AR" dirty="0"/>
          </a:p>
        </p:txBody>
      </p:sp>
      <p:pic>
        <p:nvPicPr>
          <p:cNvPr id="9" name="Imagen 8">
            <a:extLst>
              <a:ext uri="{FF2B5EF4-FFF2-40B4-BE49-F238E27FC236}">
                <a16:creationId xmlns:a16="http://schemas.microsoft.com/office/drawing/2014/main" id="{03F44581-C699-6C4D-F600-AB184A9657D7}"/>
              </a:ext>
            </a:extLst>
          </p:cNvPr>
          <p:cNvPicPr>
            <a:picLocks noChangeAspect="1"/>
          </p:cNvPicPr>
          <p:nvPr/>
        </p:nvPicPr>
        <p:blipFill>
          <a:blip r:embed="rId2"/>
          <a:srcRect b="4106"/>
          <a:stretch>
            <a:fillRect/>
          </a:stretch>
        </p:blipFill>
        <p:spPr>
          <a:xfrm>
            <a:off x="696850" y="3815770"/>
            <a:ext cx="8112025" cy="1972471"/>
          </a:xfrm>
          <a:prstGeom prst="rect">
            <a:avLst/>
          </a:prstGeom>
        </p:spPr>
      </p:pic>
    </p:spTree>
    <p:extLst>
      <p:ext uri="{BB962C8B-B14F-4D97-AF65-F5344CB8AC3E}">
        <p14:creationId xmlns:p14="http://schemas.microsoft.com/office/powerpoint/2010/main" val="8784601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5BBD32D-1A96-DBD5-EA0C-2A0EF323E4AA}"/>
              </a:ext>
            </a:extLst>
          </p:cNvPr>
          <p:cNvSpPr txBox="1"/>
          <p:nvPr/>
        </p:nvSpPr>
        <p:spPr>
          <a:xfrm>
            <a:off x="1731146" y="643537"/>
            <a:ext cx="4580876" cy="373051"/>
          </a:xfrm>
          <a:prstGeom prst="rect">
            <a:avLst/>
          </a:prstGeom>
          <a:noFill/>
        </p:spPr>
        <p:txBody>
          <a:bodyPr wrap="square">
            <a:spAutoFit/>
          </a:bodyPr>
          <a:lstStyle/>
          <a:p>
            <a:pPr>
              <a:lnSpc>
                <a:spcPct val="107000"/>
              </a:lnSpc>
              <a:spcAft>
                <a:spcPts val="800"/>
              </a:spcAft>
              <a:buNone/>
            </a:pPr>
            <a:r>
              <a:rPr lang="es-AR" sz="1800" b="1" dirty="0">
                <a:solidFill>
                  <a:srgbClr val="FF0000"/>
                </a:solidFill>
                <a:effectLst/>
                <a:latin typeface="Lato" panose="020F0502020204030203" pitchFamily="34" charset="0"/>
                <a:ea typeface="Calibri" panose="020F0502020204030204" pitchFamily="34" charset="0"/>
              </a:rPr>
              <a:t>5. </a:t>
            </a:r>
            <a:r>
              <a:rPr lang="es-AR" b="1" dirty="0">
                <a:solidFill>
                  <a:srgbClr val="FF0000"/>
                </a:solidFill>
                <a:latin typeface="Lato" panose="020F0502020204030203" pitchFamily="34" charset="0"/>
                <a:ea typeface="Calibri" panose="020F0502020204030204" pitchFamily="34" charset="0"/>
              </a:rPr>
              <a:t>protegerPrimeraFila</a:t>
            </a:r>
            <a:r>
              <a:rPr lang="es-AR" sz="1800" b="1" dirty="0">
                <a:solidFill>
                  <a:srgbClr val="FF0000"/>
                </a:solidFill>
                <a:effectLst/>
                <a:latin typeface="Lato" panose="020F0502020204030203" pitchFamily="34" charset="0"/>
                <a:ea typeface="Calibri" panose="020F0502020204030204" pitchFamily="34" charset="0"/>
              </a:rPr>
              <a:t> () </a:t>
            </a:r>
            <a:endParaRPr lang="es-AR" sz="1800" dirty="0">
              <a:solidFill>
                <a:srgbClr val="FF0000"/>
              </a:solidFill>
              <a:effectLst/>
              <a:latin typeface="Calibri" panose="020F0502020204030204" pitchFamily="34" charset="0"/>
              <a:ea typeface="Calibri" panose="020F0502020204030204" pitchFamily="34" charset="0"/>
            </a:endParaRPr>
          </a:p>
        </p:txBody>
      </p:sp>
      <p:pic>
        <p:nvPicPr>
          <p:cNvPr id="8" name="Imagen 7">
            <a:extLst>
              <a:ext uri="{FF2B5EF4-FFF2-40B4-BE49-F238E27FC236}">
                <a16:creationId xmlns:a16="http://schemas.microsoft.com/office/drawing/2014/main" id="{D9CC0578-97DB-B2AB-C5FB-0DCEBCEA9F28}"/>
              </a:ext>
            </a:extLst>
          </p:cNvPr>
          <p:cNvPicPr>
            <a:picLocks noChangeAspect="1"/>
          </p:cNvPicPr>
          <p:nvPr/>
        </p:nvPicPr>
        <p:blipFill>
          <a:blip r:embed="rId2"/>
          <a:stretch>
            <a:fillRect/>
          </a:stretch>
        </p:blipFill>
        <p:spPr>
          <a:xfrm>
            <a:off x="4363077" y="643537"/>
            <a:ext cx="285457" cy="373051"/>
          </a:xfrm>
          <a:prstGeom prst="rect">
            <a:avLst/>
          </a:prstGeom>
        </p:spPr>
      </p:pic>
      <p:sp>
        <p:nvSpPr>
          <p:cNvPr id="10" name="CuadroTexto 9">
            <a:extLst>
              <a:ext uri="{FF2B5EF4-FFF2-40B4-BE49-F238E27FC236}">
                <a16:creationId xmlns:a16="http://schemas.microsoft.com/office/drawing/2014/main" id="{16D5943B-F6F1-BCE2-2F82-6FC673E0980A}"/>
              </a:ext>
            </a:extLst>
          </p:cNvPr>
          <p:cNvSpPr txBox="1"/>
          <p:nvPr/>
        </p:nvSpPr>
        <p:spPr>
          <a:xfrm>
            <a:off x="-8876" y="2151218"/>
            <a:ext cx="4580876" cy="3005823"/>
          </a:xfrm>
          <a:prstGeom prst="rect">
            <a:avLst/>
          </a:prstGeom>
          <a:noFill/>
        </p:spPr>
        <p:txBody>
          <a:bodyPr wrap="square">
            <a:spAutoFit/>
          </a:bodyPr>
          <a:lstStyle/>
          <a:p>
            <a:pPr marL="347472">
              <a:lnSpc>
                <a:spcPct val="107000"/>
              </a:lnSpc>
              <a:spcAft>
                <a:spcPts val="800"/>
              </a:spcAft>
              <a:tabLst>
                <a:tab pos="457200" algn="l"/>
              </a:tabLst>
            </a:pPr>
            <a:r>
              <a:rPr lang="es-AR" sz="1800" dirty="0">
                <a:solidFill>
                  <a:srgbClr val="002060"/>
                </a:solidFill>
                <a:latin typeface="Lato" panose="020F0502020204030203" pitchFamily="34" charset="0"/>
                <a:ea typeface="Calibri" panose="020F0502020204030204" pitchFamily="34" charset="0"/>
              </a:rPr>
              <a:t>Esta es  una </a:t>
            </a:r>
            <a:r>
              <a:rPr lang="es-AR" sz="1800" b="1" dirty="0">
                <a:solidFill>
                  <a:srgbClr val="002060"/>
                </a:solidFill>
                <a:latin typeface="Lato" panose="020F0502020204030203" pitchFamily="34" charset="0"/>
                <a:ea typeface="Calibri" panose="020F0502020204030204" pitchFamily="34" charset="0"/>
              </a:rPr>
              <a:t>función auxiliares</a:t>
            </a:r>
            <a:r>
              <a:rPr lang="es-AR" sz="1800" dirty="0">
                <a:solidFill>
                  <a:srgbClr val="002060"/>
                </a:solidFill>
                <a:latin typeface="Lato" panose="020F0502020204030203" pitchFamily="34" charset="0"/>
                <a:ea typeface="Calibri" panose="020F0502020204030204" pitchFamily="34" charset="0"/>
              </a:rPr>
              <a:t> que ayuda a la función principal.</a:t>
            </a:r>
          </a:p>
          <a:p>
            <a:pPr marL="347472">
              <a:lnSpc>
                <a:spcPct val="107000"/>
              </a:lnSpc>
              <a:spcAft>
                <a:spcPts val="800"/>
              </a:spcAft>
              <a:tabLst>
                <a:tab pos="457200" algn="l"/>
              </a:tabLst>
            </a:pPr>
            <a:r>
              <a:rPr lang="es-AR" sz="1400" b="1" dirty="0">
                <a:solidFill>
                  <a:srgbClr val="002060"/>
                </a:solidFill>
                <a:latin typeface="Lato" panose="020F0502020204030203" pitchFamily="34" charset="0"/>
                <a:ea typeface="Calibri" panose="020F0502020204030204" pitchFamily="34" charset="0"/>
              </a:rPr>
              <a:t>protegerPrimeraFila():</a:t>
            </a:r>
            <a:r>
              <a:rPr lang="es-AR" sz="1400" dirty="0">
                <a:solidFill>
                  <a:srgbClr val="002060"/>
                </a:solidFill>
                <a:latin typeface="Lato" panose="020F0502020204030203" pitchFamily="34" charset="0"/>
                <a:ea typeface="Calibri" panose="020F0502020204030204" pitchFamily="34" charset="0"/>
              </a:rPr>
              <a:t> En una hoja de código aparte esta función funciona en paralelo a la ejecución de las demás funciones y sirve para evitar que los empleados cambien el orden de las columnas enviándoles un mensaje que indica que esto producirá problemas y volviendo los cambios para atrás. Se ejecuta automáticamente luego de cada cambio a la hoja de Google Sheets</a:t>
            </a:r>
          </a:p>
          <a:p>
            <a:pPr marL="347472">
              <a:lnSpc>
                <a:spcPct val="107000"/>
              </a:lnSpc>
              <a:spcAft>
                <a:spcPts val="800"/>
              </a:spcAft>
              <a:tabLst>
                <a:tab pos="457200" algn="l"/>
              </a:tabLst>
            </a:pPr>
            <a:endParaRPr lang="es-AR" sz="1800" b="1" kern="1200" dirty="0">
              <a:solidFill>
                <a:srgbClr val="002060"/>
              </a:solidFill>
              <a:effectLst/>
              <a:latin typeface="Lato" panose="020F0502020204030203" pitchFamily="34" charset="0"/>
              <a:ea typeface="Calibri" panose="020F0502020204030204" pitchFamily="34" charset="0"/>
              <a:cs typeface="+mn-cs"/>
            </a:endParaRPr>
          </a:p>
        </p:txBody>
      </p:sp>
      <p:pic>
        <p:nvPicPr>
          <p:cNvPr id="14" name="Imagen 13">
            <a:extLst>
              <a:ext uri="{FF2B5EF4-FFF2-40B4-BE49-F238E27FC236}">
                <a16:creationId xmlns:a16="http://schemas.microsoft.com/office/drawing/2014/main" id="{84E74A4A-F237-405F-3501-BB2439410246}"/>
              </a:ext>
            </a:extLst>
          </p:cNvPr>
          <p:cNvPicPr>
            <a:picLocks noChangeAspect="1"/>
          </p:cNvPicPr>
          <p:nvPr/>
        </p:nvPicPr>
        <p:blipFill>
          <a:blip r:embed="rId3"/>
          <a:srcRect t="6291" b="7766"/>
          <a:stretch>
            <a:fillRect/>
          </a:stretch>
        </p:blipFill>
        <p:spPr>
          <a:xfrm>
            <a:off x="4572000" y="1198485"/>
            <a:ext cx="4496427" cy="5157926"/>
          </a:xfrm>
          <a:prstGeom prst="rect">
            <a:avLst/>
          </a:prstGeom>
        </p:spPr>
      </p:pic>
    </p:spTree>
    <p:extLst>
      <p:ext uri="{BB962C8B-B14F-4D97-AF65-F5344CB8AC3E}">
        <p14:creationId xmlns:p14="http://schemas.microsoft.com/office/powerpoint/2010/main" val="2297375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66BF8B2-31FE-D30C-D01C-5962C213BAB1}"/>
              </a:ext>
            </a:extLst>
          </p:cNvPr>
          <p:cNvSpPr txBox="1"/>
          <p:nvPr/>
        </p:nvSpPr>
        <p:spPr>
          <a:xfrm>
            <a:off x="2760956" y="343554"/>
            <a:ext cx="4580876" cy="646331"/>
          </a:xfrm>
          <a:prstGeom prst="rect">
            <a:avLst/>
          </a:prstGeom>
          <a:noFill/>
        </p:spPr>
        <p:txBody>
          <a:bodyPr wrap="square">
            <a:spAutoFit/>
          </a:bodyPr>
          <a:lstStyle/>
          <a:p>
            <a:r>
              <a:rPr lang="es-AR" sz="3600" dirty="0"/>
              <a:t>Conclusiones</a:t>
            </a:r>
            <a:r>
              <a:rPr lang="es-AR" dirty="0"/>
              <a:t> </a:t>
            </a:r>
          </a:p>
        </p:txBody>
      </p:sp>
      <p:sp>
        <p:nvSpPr>
          <p:cNvPr id="7" name="CuadroTexto 6">
            <a:extLst>
              <a:ext uri="{FF2B5EF4-FFF2-40B4-BE49-F238E27FC236}">
                <a16:creationId xmlns:a16="http://schemas.microsoft.com/office/drawing/2014/main" id="{1B7BF8B7-1D96-E03A-2822-662BA2E6FA4C}"/>
              </a:ext>
            </a:extLst>
          </p:cNvPr>
          <p:cNvSpPr txBox="1"/>
          <p:nvPr/>
        </p:nvSpPr>
        <p:spPr>
          <a:xfrm>
            <a:off x="901082" y="989885"/>
            <a:ext cx="7341833" cy="738664"/>
          </a:xfrm>
          <a:prstGeom prst="rect">
            <a:avLst/>
          </a:prstGeom>
          <a:noFill/>
        </p:spPr>
        <p:txBody>
          <a:bodyPr wrap="square">
            <a:spAutoFit/>
          </a:bodyPr>
          <a:lstStyle/>
          <a:p>
            <a:r>
              <a:rPr lang="es-MX" sz="1400" dirty="0">
                <a:solidFill>
                  <a:schemeClr val="bg1">
                    <a:lumMod val="50000"/>
                  </a:schemeClr>
                </a:solidFill>
              </a:rPr>
              <a:t>Se logró mejorar la operatividad diaria de la División de Aguas Subterráneas, aplicando conceptos de la Tecnicatura Universitaria en Programación para desarrollar herramientas prácticas. El proyecto fue presentado y obtuvo el apoyo del director provincial.</a:t>
            </a:r>
            <a:endParaRPr lang="es-AR" sz="1400" dirty="0">
              <a:solidFill>
                <a:schemeClr val="bg1">
                  <a:lumMod val="50000"/>
                </a:schemeClr>
              </a:solidFill>
            </a:endParaRPr>
          </a:p>
        </p:txBody>
      </p:sp>
      <p:sp>
        <p:nvSpPr>
          <p:cNvPr id="9" name="Rectangle 2">
            <a:extLst>
              <a:ext uri="{FF2B5EF4-FFF2-40B4-BE49-F238E27FC236}">
                <a16:creationId xmlns:a16="http://schemas.microsoft.com/office/drawing/2014/main" id="{E1E576D7-621C-8506-4987-0C869D9CFFCF}"/>
              </a:ext>
            </a:extLst>
          </p:cNvPr>
          <p:cNvSpPr>
            <a:spLocks noChangeArrowheads="1"/>
          </p:cNvSpPr>
          <p:nvPr/>
        </p:nvSpPr>
        <p:spPr bwMode="auto">
          <a:xfrm>
            <a:off x="901082" y="2297934"/>
            <a:ext cx="712433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400" b="1" i="0" u="none" strike="noStrike" cap="none" normalizeH="0" baseline="0" dirty="0">
                <a:ln>
                  <a:noFill/>
                </a:ln>
                <a:solidFill>
                  <a:schemeClr val="bg1">
                    <a:lumMod val="50000"/>
                  </a:schemeClr>
                </a:solidFill>
                <a:effectLst/>
              </a:rPr>
              <a:t>Logros Clave del Proyecto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bg1">
                    <a:lumMod val="50000"/>
                  </a:schemeClr>
                </a:solidFill>
                <a:effectLst/>
              </a:rPr>
              <a:t>Sistema de Correo Automático:</a:t>
            </a:r>
            <a:endParaRPr kumimoji="0" lang="es-AR" altLang="es-AR" sz="1400" b="0" i="0" u="none" strike="noStrike" cap="none" normalizeH="0" baseline="0" dirty="0">
              <a:ln>
                <a:noFill/>
              </a:ln>
              <a:solidFill>
                <a:schemeClr val="bg1">
                  <a:lumMod val="50000"/>
                </a:schemeClr>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AR" altLang="es-AR" sz="1400" b="0" i="0" u="none" strike="noStrike" cap="none" normalizeH="0" baseline="0" dirty="0">
                <a:ln>
                  <a:noFill/>
                </a:ln>
                <a:solidFill>
                  <a:schemeClr val="bg1">
                    <a:lumMod val="50000"/>
                  </a:schemeClr>
                </a:solidFill>
                <a:effectLst/>
              </a:rPr>
              <a:t>Diseño e implementación de un sistema que </a:t>
            </a:r>
            <a:r>
              <a:rPr kumimoji="0" lang="es-AR" altLang="es-AR" sz="1400" b="1" i="0" u="none" strike="noStrike" cap="none" normalizeH="0" baseline="0" dirty="0">
                <a:ln>
                  <a:noFill/>
                </a:ln>
                <a:solidFill>
                  <a:schemeClr val="bg1">
                    <a:lumMod val="50000"/>
                  </a:schemeClr>
                </a:solidFill>
                <a:effectLst/>
              </a:rPr>
              <a:t>automatiza el envío de correos</a:t>
            </a:r>
            <a:r>
              <a:rPr kumimoji="0" lang="es-AR" altLang="es-AR" sz="1400" b="0" i="0" u="none" strike="noStrike" cap="none" normalizeH="0" baseline="0" dirty="0">
                <a:ln>
                  <a:noFill/>
                </a:ln>
                <a:solidFill>
                  <a:schemeClr val="bg1">
                    <a:lumMod val="50000"/>
                  </a:schemeClr>
                </a:solidFill>
                <a:effectLst/>
              </a:rPr>
              <a:t> de vencimiento de cheques de cegado.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AR" altLang="es-AR" sz="1400" b="0" i="0" u="none" strike="noStrike" cap="none" normalizeH="0" baseline="0" dirty="0">
                <a:ln>
                  <a:noFill/>
                </a:ln>
                <a:solidFill>
                  <a:schemeClr val="bg1">
                    <a:lumMod val="50000"/>
                  </a:schemeClr>
                </a:solidFill>
                <a:effectLst/>
              </a:rPr>
              <a:t>Esto eliminó una tarea de control manual, generando avisos al cliente y al ente regulador, lo que resultó en un control más seguro y sencillo.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bg1">
                    <a:lumMod val="50000"/>
                  </a:schemeClr>
                </a:solidFill>
                <a:effectLst/>
              </a:rPr>
              <a:t>Optimización de Capas GIS (QGIS y Google Earth Pro):</a:t>
            </a:r>
            <a:endParaRPr kumimoji="0" lang="es-AR" altLang="es-AR" sz="1400" b="0" i="0" u="none" strike="noStrike" cap="none" normalizeH="0" baseline="0" dirty="0">
              <a:ln>
                <a:noFill/>
              </a:ln>
              <a:solidFill>
                <a:schemeClr val="bg1">
                  <a:lumMod val="50000"/>
                </a:schemeClr>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AR" altLang="es-AR" sz="1400" b="0" i="0" u="none" strike="noStrike" cap="none" normalizeH="0" baseline="0" dirty="0">
                <a:ln>
                  <a:noFill/>
                </a:ln>
                <a:solidFill>
                  <a:schemeClr val="bg1">
                    <a:lumMod val="50000"/>
                  </a:schemeClr>
                </a:solidFill>
                <a:effectLst/>
              </a:rPr>
              <a:t>Análisis y modificación de capas de Qgis y Google Earth para </a:t>
            </a:r>
            <a:r>
              <a:rPr kumimoji="0" lang="es-AR" altLang="es-AR" sz="1400" b="1" i="0" u="none" strike="noStrike" cap="none" normalizeH="0" baseline="0" dirty="0">
                <a:ln>
                  <a:noFill/>
                </a:ln>
                <a:solidFill>
                  <a:schemeClr val="bg1">
                    <a:lumMod val="50000"/>
                  </a:schemeClr>
                </a:solidFill>
                <a:effectLst/>
              </a:rPr>
              <a:t>corregir y actualizar información</a:t>
            </a:r>
            <a:r>
              <a:rPr kumimoji="0" lang="es-AR" altLang="es-AR" sz="1400" b="0" i="0" u="none" strike="noStrike" cap="none" normalizeH="0" baseline="0" dirty="0">
                <a:ln>
                  <a:noFill/>
                </a:ln>
                <a:solidFill>
                  <a:schemeClr val="bg1">
                    <a:lumMod val="50000"/>
                  </a:schemeClr>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AR" altLang="es-AR" sz="1400" b="0" i="0" u="none" strike="noStrike" cap="none" normalizeH="0" baseline="0" dirty="0">
                <a:ln>
                  <a:noFill/>
                </a:ln>
                <a:solidFill>
                  <a:schemeClr val="bg1">
                    <a:lumMod val="50000"/>
                  </a:schemeClr>
                </a:solidFill>
                <a:effectLst/>
              </a:rPr>
              <a:t>Se mejoró la </a:t>
            </a:r>
            <a:r>
              <a:rPr kumimoji="0" lang="es-AR" altLang="es-AR" sz="1400" b="1" i="0" u="none" strike="noStrike" cap="none" normalizeH="0" baseline="0" dirty="0">
                <a:ln>
                  <a:noFill/>
                </a:ln>
                <a:solidFill>
                  <a:schemeClr val="bg1">
                    <a:lumMod val="50000"/>
                  </a:schemeClr>
                </a:solidFill>
                <a:effectLst/>
              </a:rPr>
              <a:t>fácil ubicación y lectura de información</a:t>
            </a:r>
            <a:r>
              <a:rPr kumimoji="0" lang="es-AR" altLang="es-AR" sz="1400" b="0" i="0" u="none" strike="noStrike" cap="none" normalizeH="0" baseline="0" dirty="0">
                <a:ln>
                  <a:noFill/>
                </a:ln>
                <a:solidFill>
                  <a:schemeClr val="bg1">
                    <a:lumMod val="50000"/>
                  </a:schemeClr>
                </a:solidFill>
                <a:effectLst/>
              </a:rPr>
              <a:t> de Pozos/Perforaciones.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AR" altLang="es-AR" sz="1400" b="0" i="0" u="none" strike="noStrike" cap="none" normalizeH="0" baseline="0" dirty="0">
                <a:ln>
                  <a:noFill/>
                </a:ln>
                <a:solidFill>
                  <a:schemeClr val="bg1">
                    <a:lumMod val="50000"/>
                  </a:schemeClr>
                </a:solidFill>
                <a:effectLst/>
              </a:rPr>
              <a:t>Se implementó un proceso técnico en </a:t>
            </a:r>
            <a:r>
              <a:rPr kumimoji="0" lang="es-AR" altLang="es-AR" sz="1400" b="1" i="0" u="none" strike="noStrike" cap="none" normalizeH="0" baseline="0" dirty="0">
                <a:ln>
                  <a:noFill/>
                </a:ln>
                <a:solidFill>
                  <a:schemeClr val="bg1">
                    <a:lumMod val="50000"/>
                  </a:schemeClr>
                </a:solidFill>
                <a:effectLst/>
              </a:rPr>
              <a:t>Python</a:t>
            </a:r>
            <a:r>
              <a:rPr kumimoji="0" lang="es-AR" altLang="es-AR" sz="1400" b="0" i="0" u="none" strike="noStrike" cap="none" normalizeH="0" baseline="0" dirty="0">
                <a:ln>
                  <a:noFill/>
                </a:ln>
                <a:solidFill>
                  <a:schemeClr val="bg1">
                    <a:lumMod val="50000"/>
                  </a:schemeClr>
                </a:solidFill>
                <a:effectLst/>
              </a:rPr>
              <a:t> para la edición masiva y automática de las propiedades de los objetos KMZ/KML.</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400" b="1" i="0" u="none" strike="noStrike" cap="none" normalizeH="0" baseline="0" dirty="0">
                <a:ln>
                  <a:noFill/>
                </a:ln>
                <a:solidFill>
                  <a:schemeClr val="bg1">
                    <a:lumMod val="50000"/>
                  </a:schemeClr>
                </a:solidFill>
                <a:effectLst/>
              </a:rPr>
              <a:t>Aprendizaje y Experiencia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1400" b="0" i="0" u="none" strike="noStrike" cap="none" normalizeH="0" baseline="0" dirty="0">
                <a:ln>
                  <a:noFill/>
                </a:ln>
                <a:solidFill>
                  <a:schemeClr val="bg1">
                    <a:lumMod val="50000"/>
                  </a:schemeClr>
                </a:solidFill>
                <a:effectLst/>
              </a:rPr>
              <a:t>Todas las tareas fueron de </a:t>
            </a:r>
            <a:r>
              <a:rPr kumimoji="0" lang="es-AR" altLang="es-AR" sz="1400" b="1" i="0" u="none" strike="noStrike" cap="none" normalizeH="0" baseline="0" dirty="0">
                <a:ln>
                  <a:noFill/>
                </a:ln>
                <a:solidFill>
                  <a:schemeClr val="bg1">
                    <a:lumMod val="50000"/>
                  </a:schemeClr>
                </a:solidFill>
                <a:effectLst/>
              </a:rPr>
              <a:t>autoría propia</a:t>
            </a:r>
            <a:r>
              <a:rPr kumimoji="0" lang="es-AR" altLang="es-AR" sz="1400" b="0" i="0" u="none" strike="noStrike" cap="none" normalizeH="0" baseline="0" dirty="0">
                <a:ln>
                  <a:noFill/>
                </a:ln>
                <a:solidFill>
                  <a:schemeClr val="bg1">
                    <a:lumMod val="50000"/>
                  </a:schemeClr>
                </a:solidFill>
                <a:effectLst/>
              </a:rPr>
              <a:t>, lo que resultó en un aprendizaje integral,</a:t>
            </a:r>
            <a:r>
              <a:rPr lang="es-AR" altLang="es-AR" sz="1400" dirty="0">
                <a:solidFill>
                  <a:schemeClr val="bg1">
                    <a:lumMod val="50000"/>
                  </a:schemeClr>
                </a:solidFill>
              </a:rPr>
              <a:t> </a:t>
            </a:r>
            <a:r>
              <a:rPr lang="es-AR" sz="1400" dirty="0">
                <a:solidFill>
                  <a:schemeClr val="bg1">
                    <a:lumMod val="50000"/>
                  </a:schemeClr>
                </a:solidFill>
              </a:rPr>
              <a:t>además, he ampliado </a:t>
            </a:r>
            <a:r>
              <a:rPr lang="es-MX" sz="1400" dirty="0">
                <a:solidFill>
                  <a:schemeClr val="bg1">
                    <a:lumMod val="50000"/>
                  </a:schemeClr>
                </a:solidFill>
              </a:rPr>
              <a:t>significativamente mis conocimientos de </a:t>
            </a:r>
            <a:r>
              <a:rPr lang="es-AR" sz="1400" dirty="0">
                <a:solidFill>
                  <a:schemeClr val="bg1">
                    <a:lumMod val="50000"/>
                  </a:schemeClr>
                </a:solidFill>
              </a:rPr>
              <a:t>GitHub, Python , App Script , Google Earth Pro ,Qgis y HTML.</a:t>
            </a:r>
            <a:endParaRPr kumimoji="0" lang="es-AR" altLang="es-AR" sz="1400" i="0" u="none" strike="noStrike" cap="none" normalizeH="0" baseline="0" dirty="0">
              <a:ln>
                <a:noFill/>
              </a:ln>
              <a:solidFill>
                <a:schemeClr val="bg1">
                  <a:lumMod val="50000"/>
                </a:schemeClr>
              </a:solidFill>
              <a:effectLst/>
              <a:latin typeface="Arial" panose="020B0604020202020204" pitchFamily="34" charset="0"/>
            </a:endParaRPr>
          </a:p>
        </p:txBody>
      </p:sp>
    </p:spTree>
    <p:extLst>
      <p:ext uri="{BB962C8B-B14F-4D97-AF65-F5344CB8AC3E}">
        <p14:creationId xmlns:p14="http://schemas.microsoft.com/office/powerpoint/2010/main" val="1351060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D13DC9E-CDC9-74BD-E1D4-3F2086DE51F3}"/>
              </a:ext>
            </a:extLst>
          </p:cNvPr>
          <p:cNvSpPr txBox="1"/>
          <p:nvPr/>
        </p:nvSpPr>
        <p:spPr>
          <a:xfrm>
            <a:off x="2175029" y="2703358"/>
            <a:ext cx="4274888" cy="830997"/>
          </a:xfrm>
          <a:prstGeom prst="rect">
            <a:avLst/>
          </a:prstGeom>
          <a:noFill/>
        </p:spPr>
        <p:txBody>
          <a:bodyPr wrap="none" rtlCol="0">
            <a:spAutoFit/>
          </a:bodyPr>
          <a:lstStyle/>
          <a:p>
            <a:r>
              <a:rPr lang="es-MX" sz="4800" dirty="0"/>
              <a:t>Muchas Gracias </a:t>
            </a:r>
            <a:endParaRPr lang="es-AR" sz="4800" dirty="0"/>
          </a:p>
        </p:txBody>
      </p:sp>
      <p:pic>
        <p:nvPicPr>
          <p:cNvPr id="4" name="Imagen 3">
            <a:extLst>
              <a:ext uri="{FF2B5EF4-FFF2-40B4-BE49-F238E27FC236}">
                <a16:creationId xmlns:a16="http://schemas.microsoft.com/office/drawing/2014/main" id="{5BC0925B-E1A4-6478-A0C5-27B9DCE9A4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499" y="4967423"/>
            <a:ext cx="6241002" cy="1057335"/>
          </a:xfrm>
          <a:prstGeom prst="rect">
            <a:avLst/>
          </a:prstGeom>
        </p:spPr>
      </p:pic>
      <p:pic>
        <p:nvPicPr>
          <p:cNvPr id="6" name="Imagen 5">
            <a:extLst>
              <a:ext uri="{FF2B5EF4-FFF2-40B4-BE49-F238E27FC236}">
                <a16:creationId xmlns:a16="http://schemas.microsoft.com/office/drawing/2014/main" id="{6665DBCE-0A22-68A8-C5AB-0F19806391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2286" y="0"/>
            <a:ext cx="4077631" cy="1270290"/>
          </a:xfrm>
          <a:prstGeom prst="rect">
            <a:avLst/>
          </a:prstGeom>
        </p:spPr>
      </p:pic>
    </p:spTree>
    <p:extLst>
      <p:ext uri="{BB962C8B-B14F-4D97-AF65-F5344CB8AC3E}">
        <p14:creationId xmlns:p14="http://schemas.microsoft.com/office/powerpoint/2010/main" val="14466690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Practicas Profecionales">
      <a:dk1>
        <a:srgbClr val="035373"/>
      </a:dk1>
      <a:lt1>
        <a:srgbClr val="8C3F3F"/>
      </a:lt1>
      <a:dk2>
        <a:srgbClr val="E9FDFF"/>
      </a:dk2>
      <a:lt2>
        <a:srgbClr val="BF372A"/>
      </a:lt2>
      <a:accent1>
        <a:srgbClr val="8C3F3F"/>
      </a:accent1>
      <a:accent2>
        <a:srgbClr val="035373"/>
      </a:accent2>
      <a:accent3>
        <a:srgbClr val="4EBFD9"/>
      </a:accent3>
      <a:accent4>
        <a:srgbClr val="E9FDFF"/>
      </a:accent4>
      <a:accent5>
        <a:srgbClr val="E9FDFF"/>
      </a:accent5>
      <a:accent6>
        <a:srgbClr val="BF372A"/>
      </a:accent6>
      <a:hlink>
        <a:srgbClr val="BF372A"/>
      </a:hlink>
      <a:folHlink>
        <a:srgbClr val="BF372A"/>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TM04033919[[fn=Circuito]]</Template>
  <TotalTime>1018</TotalTime>
  <Words>1684</Words>
  <Application>Microsoft Office PowerPoint</Application>
  <PresentationFormat>Presentación en pantalla (4:3)</PresentationFormat>
  <Paragraphs>113</Paragraphs>
  <Slides>34</Slides>
  <Notes>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34</vt:i4>
      </vt:variant>
    </vt:vector>
  </HeadingPairs>
  <TitlesOfParts>
    <vt:vector size="41" baseType="lpstr">
      <vt:lpstr>Arial</vt:lpstr>
      <vt:lpstr>Calibri</vt:lpstr>
      <vt:lpstr>Lato</vt:lpstr>
      <vt:lpstr>Segoe UI Emoji</vt:lpstr>
      <vt:lpstr>Symbol</vt:lpstr>
      <vt:lpstr>Tw Cen MT</vt:lpstr>
      <vt:lpstr>Circuito</vt:lpstr>
      <vt:lpstr>Presentación de PowerPoint</vt:lpstr>
      <vt:lpstr>Presentación de PowerPoint</vt:lpstr>
      <vt:lpstr>Cronología </vt:lpstr>
      <vt:lpstr>Resumen de las practicas profesionales </vt:lpstr>
      <vt:lpstr>Objetivos </vt:lpstr>
      <vt:lpstr>Usos Prácticos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Usuario</dc:creator>
  <cp:lastModifiedBy>Usuario</cp:lastModifiedBy>
  <cp:revision>27</cp:revision>
  <dcterms:created xsi:type="dcterms:W3CDTF">2025-08-30T15:17:03Z</dcterms:created>
  <dcterms:modified xsi:type="dcterms:W3CDTF">2025-11-05T01:20:44Z</dcterms:modified>
</cp:coreProperties>
</file>